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35788"/>
            <a:ext cx="45261" cy="45261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60652"/>
            <a:ext cx="3172968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86200" y="2360652"/>
            <a:ext cx="1586484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28716" y="2360652"/>
            <a:ext cx="1586484" cy="4572"/>
          </a:xfrm>
          <a:prstGeom prst="rect">
            <a:avLst/>
          </a:prstGeom>
          <a:solidFill>
            <a:srgbClr val="8A8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96166" y="2644116"/>
            <a:ext cx="5419034" cy="4572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45181" y="4822960"/>
            <a:ext cx="5870019" cy="4572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946404"/>
            <a:ext cx="1178147" cy="224028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0870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14216" y="280870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1774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14216" y="311774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26785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14216" y="3426785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35824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4216" y="3735824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44863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4216" y="4044863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53901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14216" y="4353901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4987552"/>
            <a:ext cx="438912" cy="438912"/>
          </a:xfrm>
          <a:prstGeom prst="ellipse">
            <a:avLst/>
          </a:prstGeom>
          <a:noFill/>
          <a:ln w="63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8" y="4987552"/>
            <a:ext cx="438912" cy="438912"/>
          </a:xfrm>
          <a:prstGeom prst="ellipse">
            <a:avLst/>
          </a:prstGeom>
          <a:noFill/>
          <a:ln w="63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99616" y="4987552"/>
            <a:ext cx="438912" cy="438912"/>
          </a:xfrm>
          <a:prstGeom prst="ellipse">
            <a:avLst/>
          </a:prstGeom>
          <a:noFill/>
          <a:ln w="63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20824" y="4987552"/>
            <a:ext cx="438912" cy="438912"/>
          </a:xfrm>
          <a:prstGeom prst="ellipse">
            <a:avLst/>
          </a:prstGeom>
          <a:noFill/>
          <a:ln w="63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42032" y="4987552"/>
            <a:ext cx="438912" cy="438912"/>
          </a:xfrm>
          <a:prstGeom prst="ellipse">
            <a:avLst/>
          </a:prstGeom>
          <a:noFill/>
          <a:ln w="63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063240" y="4987552"/>
            <a:ext cx="438912" cy="438912"/>
          </a:xfrm>
          <a:prstGeom prst="ellipse">
            <a:avLst/>
          </a:prstGeom>
          <a:noFill/>
          <a:ln w="63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84448" y="4987552"/>
            <a:ext cx="438912" cy="438912"/>
          </a:xfrm>
          <a:prstGeom prst="ellipse">
            <a:avLst/>
          </a:prstGeom>
          <a:noFill/>
          <a:ln w="63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05656" y="4987552"/>
            <a:ext cx="438912" cy="438912"/>
          </a:xfrm>
          <a:prstGeom prst="ellipse">
            <a:avLst/>
          </a:prstGeom>
          <a:noFill/>
          <a:ln w="63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26864" y="4987552"/>
            <a:ext cx="438912" cy="438912"/>
          </a:xfrm>
          <a:prstGeom prst="ellipse">
            <a:avLst/>
          </a:prstGeom>
          <a:noFill/>
          <a:ln w="63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48072" y="4987552"/>
            <a:ext cx="438912" cy="438912"/>
          </a:xfrm>
          <a:prstGeom prst="ellipse">
            <a:avLst/>
          </a:prstGeom>
          <a:noFill/>
          <a:ln w="63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655064"/>
            <a:ext cx="6858000" cy="960120"/>
          </a:xfrm>
          <a:prstGeom prst="rect">
            <a:avLst/>
          </a:prstGeom>
          <a:noFill/>
          <a:ln w="6350">
            <a:solidFill>
              <a:srgbClr val="C2C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822" y="416052"/>
            <a:ext cx="1642491" cy="1417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71507" y="450342"/>
            <a:ext cx="264097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CHECKLIST 04 · SHOWING SCORECARD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996" y="946404"/>
            <a:ext cx="2067631" cy="22402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CLIENT HANDOUT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280160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Showing Scorecard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1782294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67E"/>
                </a:solidFill>
                <a:latin typeface="Lato"/>
                <a:ea typeface="Lato"/>
                <a:cs typeface="Lato"/>
              </a:rPr>
              <a:t>A fill-in card to score every home you tour. Print one per showing and compare with a clear head later.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2191488"/>
            <a:ext cx="4270248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PROPERTY ADDRESS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2191488"/>
            <a:ext cx="2683764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LIST PRICE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28716" y="2191488"/>
            <a:ext cx="2683764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DATE TOURED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602968"/>
            <a:ext cx="2444806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WALK THROUGH &amp; CHECK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" y="27904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First impression / curb appeal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9392" y="279042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Layout &amp; flow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" y="30994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Natural light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9392" y="309945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Kitchen condition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" y="340849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Bath condition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79392" y="340849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Primary suite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" y="3717536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Storage &amp; closets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79392" y="3717536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Mechanicals age (HVAC / roof / water heater)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" y="402657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Yard &amp; outdoor space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79392" y="402657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Noise &amp; neighbors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" y="433561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Commute test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9392" y="433561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Pet / lifestyle fit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781812"/>
            <a:ext cx="1993821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GUT-FEEL SCORE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987552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67E"/>
                </a:solidFill>
                <a:latin typeface="Cormorant Garamond"/>
                <a:ea typeface="Cormorant Garamond"/>
                <a:cs typeface="Cormorant Garamond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" y="4987552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67E"/>
                </a:solidFill>
                <a:latin typeface="Cormorant Garamond"/>
                <a:ea typeface="Cormorant Garamond"/>
                <a:cs typeface="Cormorant Garamond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99616" y="4987552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67E"/>
                </a:solidFill>
                <a:latin typeface="Cormorant Garamond"/>
                <a:ea typeface="Cormorant Garamond"/>
                <a:cs typeface="Cormorant Garamond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20824" y="4987552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67E"/>
                </a:solidFill>
                <a:latin typeface="Cormorant Garamond"/>
                <a:ea typeface="Cormorant Garamond"/>
                <a:cs typeface="Cormorant Garamond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42032" y="4987552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67E"/>
                </a:solidFill>
                <a:latin typeface="Cormorant Garamond"/>
                <a:ea typeface="Cormorant Garamond"/>
                <a:cs typeface="Cormorant Garamond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63240" y="4987552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67E"/>
                </a:solidFill>
                <a:latin typeface="Cormorant Garamond"/>
                <a:ea typeface="Cormorant Garamond"/>
                <a:cs typeface="Cormorant Garamond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84448" y="4987552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67E"/>
                </a:solidFill>
                <a:latin typeface="Cormorant Garamond"/>
                <a:ea typeface="Cormorant Garamond"/>
                <a:cs typeface="Cormorant Garamond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05656" y="4987552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67E"/>
                </a:solidFill>
                <a:latin typeface="Cormorant Garamond"/>
                <a:ea typeface="Cormorant Garamond"/>
                <a:cs typeface="Cormorant Garamond"/>
              </a:rPr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26864" y="4987552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67E"/>
                </a:solidFill>
                <a:latin typeface="Cormorant Garamond"/>
                <a:ea typeface="Cormorant Garamond"/>
                <a:cs typeface="Cormorant Garamond"/>
              </a:rP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48072" y="4987552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1224" b="0" i="1">
                <a:solidFill>
                  <a:srgbClr val="8A867E"/>
                </a:solidFill>
                <a:latin typeface="Cormorant Garamond"/>
                <a:ea typeface="Cormorant Garamond"/>
                <a:cs typeface="Cormorant Garamond"/>
              </a:rP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9788" y="5751076"/>
            <a:ext cx="7690104" cy="822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32" b="1" i="0" spc="138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NOTES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9678924"/>
            <a:ext cx="241437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THE REAL ESTATE CHECKLIST PACK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251" y="9665208"/>
            <a:ext cx="1829229" cy="1005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