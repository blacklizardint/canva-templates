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33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393192"/>
            <a:ext cx="2286" cy="18288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29904"/>
            <a:ext cx="292608" cy="4572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108192"/>
            <a:ext cx="2651974" cy="4572"/>
          </a:xfrm>
          <a:prstGeom prst="rect">
            <a:avLst/>
          </a:prstGeom>
          <a:solidFill>
            <a:srgbClr val="656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154" y="6108192"/>
            <a:ext cx="2652046" cy="4572"/>
          </a:xfrm>
          <a:prstGeom prst="rect">
            <a:avLst/>
          </a:prstGeom>
          <a:solidFill>
            <a:srgbClr val="656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457200" y="717804"/>
            <a:ext cx="6858000" cy="0"/>
          </a:xfrm>
          <a:prstGeom prst="line">
            <a:avLst/>
          </a:prstGeom>
          <a:ln w="6350">
            <a:solidFill>
              <a:srgbClr val="5F5E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  <a:ln w="6350">
            <a:solidFill>
              <a:srgbClr val="FBF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457200" y="6620256"/>
            <a:ext cx="3246120" cy="0"/>
          </a:xfrm>
          <a:prstGeom prst="line">
            <a:avLst/>
          </a:prstGeom>
          <a:ln w="6350">
            <a:solidFill>
              <a:srgbClr val="4A49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7200" y="6917436"/>
            <a:ext cx="3246120" cy="0"/>
          </a:xfrm>
          <a:prstGeom prst="line">
            <a:avLst/>
          </a:prstGeom>
          <a:ln w="6350">
            <a:solidFill>
              <a:srgbClr val="4A49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" y="7214616"/>
            <a:ext cx="3246120" cy="0"/>
          </a:xfrm>
          <a:prstGeom prst="line">
            <a:avLst/>
          </a:prstGeom>
          <a:ln w="6350">
            <a:solidFill>
              <a:srgbClr val="4A49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7200" y="7511796"/>
            <a:ext cx="3246120" cy="0"/>
          </a:xfrm>
          <a:prstGeom prst="line">
            <a:avLst/>
          </a:prstGeom>
          <a:ln w="6350">
            <a:solidFill>
              <a:srgbClr val="4A49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7200" y="7808976"/>
            <a:ext cx="3246120" cy="0"/>
          </a:xfrm>
          <a:prstGeom prst="line">
            <a:avLst/>
          </a:prstGeom>
          <a:ln w="6350">
            <a:solidFill>
              <a:srgbClr val="4A49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7200" y="8106156"/>
            <a:ext cx="3246120" cy="0"/>
          </a:xfrm>
          <a:prstGeom prst="line">
            <a:avLst/>
          </a:prstGeom>
          <a:ln w="6350">
            <a:solidFill>
              <a:srgbClr val="4A49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069080" y="6620256"/>
            <a:ext cx="3246120" cy="0"/>
          </a:xfrm>
          <a:prstGeom prst="line">
            <a:avLst/>
          </a:prstGeom>
          <a:ln w="6350">
            <a:solidFill>
              <a:srgbClr val="4A49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069080" y="6917436"/>
            <a:ext cx="3246120" cy="0"/>
          </a:xfrm>
          <a:prstGeom prst="line">
            <a:avLst/>
          </a:prstGeom>
          <a:ln w="6350">
            <a:solidFill>
              <a:srgbClr val="4A49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069080" y="7214616"/>
            <a:ext cx="3246120" cy="0"/>
          </a:xfrm>
          <a:prstGeom prst="line">
            <a:avLst/>
          </a:prstGeom>
          <a:ln w="6350">
            <a:solidFill>
              <a:srgbClr val="4A49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069080" y="7511796"/>
            <a:ext cx="3246120" cy="0"/>
          </a:xfrm>
          <a:prstGeom prst="line">
            <a:avLst/>
          </a:prstGeom>
          <a:ln w="6350">
            <a:solidFill>
              <a:srgbClr val="4A49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69080" y="7808976"/>
            <a:ext cx="3246120" cy="0"/>
          </a:xfrm>
          <a:prstGeom prst="line">
            <a:avLst/>
          </a:prstGeom>
          <a:ln w="6350">
            <a:solidFill>
              <a:srgbClr val="4A49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" y="9582912"/>
            <a:ext cx="6858000" cy="0"/>
          </a:xfrm>
          <a:prstGeom prst="line">
            <a:avLst/>
          </a:prstGeom>
          <a:ln w="6350">
            <a:solidFill>
              <a:srgbClr val="5B5A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786" b="0" i="1" spc="31">
                <a:solidFill>
                  <a:srgbClr val="FBFAF7"/>
                </a:solidFill>
                <a:latin typeface="Cormorant Garamond"/>
                <a:ea typeface="Cormorant Garamond"/>
                <a:cs typeface="Cormorant Garamond"/>
              </a:rPr>
              <a:t>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1822" y="416052"/>
            <a:ext cx="1642491" cy="1417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792" b="0" i="1" spc="3">
                <a:solidFill>
                  <a:srgbClr val="FBFAF7"/>
                </a:solidFill>
                <a:latin typeface="Cormorant Garamond"/>
                <a:ea typeface="Cormorant Garamond"/>
                <a:cs typeface="Cormorant Garamond"/>
              </a:rPr>
              <a:t>Maya Ellison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6808" y="450342"/>
            <a:ext cx="1945672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42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00 / 12 — THE COVER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1101852"/>
            <a:ext cx="7955280" cy="868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68" b="1" i="0" spc="187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MODERN LIVING · FOR REALTORS &amp; THEIR CLIENTS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1344168"/>
            <a:ext cx="7955280" cy="4048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96000"/>
              </a:lnSpc>
            </a:pPr>
            <a:r>
              <a:rPr sz="3095" b="0" i="1">
                <a:solidFill>
                  <a:srgbClr val="FBFAF7"/>
                </a:solidFill>
                <a:latin typeface="Cormorant Garamond"/>
                <a:ea typeface="Cormorant Garamond"/>
                <a:cs typeface="Cormorant Garamond"/>
              </a:rPr>
              <a:t>The Real Estate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1721572"/>
            <a:ext cx="7955280" cy="74937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94000"/>
              </a:lnSpc>
            </a:pPr>
            <a:r>
              <a:rPr sz="6048" b="0" i="0" spc="-120">
                <a:solidFill>
                  <a:srgbClr val="FBFAF7"/>
                </a:solidFill>
                <a:latin typeface="Cormorant Garamond"/>
                <a:ea typeface="Cormorant Garamond"/>
                <a:cs typeface="Cormorant Garamond"/>
              </a:rPr>
              <a:t>Checklist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2443520"/>
            <a:ext cx="7955280" cy="52120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3887" b="0" i="1">
                <a:solidFill>
                  <a:srgbClr val="97A98C"/>
                </a:solidFill>
                <a:latin typeface="Cormorant Garamond"/>
                <a:ea typeface="Cormorant Garamond"/>
                <a:cs typeface="Cormorant Garamond"/>
              </a:rPr>
              <a:t>Pack.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138464"/>
            <a:ext cx="5010912" cy="41005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5000"/>
              </a:lnSpc>
            </a:pPr>
            <a:r>
              <a:rPr sz="971" b="0" i="0">
                <a:solidFill>
                  <a:srgbClr val="FBFAF7"/>
                </a:solidFill>
                <a:latin typeface="Lato"/>
                <a:ea typeface="Lato"/>
                <a:cs typeface="Lato"/>
              </a:rPr>
              <a:t>Twelve done-for-you checklists — from pre-listing to keys-in-hand. A polished mix of agent workflows and client-facing handouts, ready to edit, brand, and print.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28046" y="6071616"/>
            <a:ext cx="2413516" cy="868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68" b="1" i="0" spc="187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WHAT'S INSIDE · 12 PAGES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387084"/>
            <a:ext cx="1298448" cy="1737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1008" b="0" i="1">
                <a:solidFill>
                  <a:srgbClr val="97A98C"/>
                </a:solidFill>
                <a:latin typeface="Cormorant Garamond"/>
                <a:ea typeface="Cormorant Garamond"/>
                <a:cs typeface="Cormorant Garamond"/>
              </a:rP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6391656"/>
            <a:ext cx="3728823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0000"/>
              </a:lnSpc>
            </a:pPr>
            <a:r>
              <a:rPr sz="1008" b="0" i="0">
                <a:solidFill>
                  <a:srgbClr val="FBFAF7"/>
                </a:solidFill>
                <a:latin typeface="Cormorant Garamond"/>
                <a:ea typeface="Cormorant Garamond"/>
                <a:cs typeface="Cormorant Garamond"/>
              </a:rPr>
              <a:t>Pre-Listing Checklist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2791" y="6446520"/>
            <a:ext cx="1327809" cy="1051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400" b="1" i="0" spc="95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684264"/>
            <a:ext cx="1298448" cy="1737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1008" b="0" i="1">
                <a:solidFill>
                  <a:srgbClr val="97A98C"/>
                </a:solidFill>
                <a:latin typeface="Cormorant Garamond"/>
                <a:ea typeface="Cormorant Garamond"/>
                <a:cs typeface="Cormorant Garamond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6688836"/>
            <a:ext cx="3714964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0000"/>
              </a:lnSpc>
            </a:pPr>
            <a:r>
              <a:rPr sz="1008" b="0" i="0">
                <a:solidFill>
                  <a:srgbClr val="FBFAF7"/>
                </a:solidFill>
                <a:latin typeface="Cormorant Garamond"/>
                <a:ea typeface="Cormorant Garamond"/>
                <a:cs typeface="Cormorant Garamond"/>
              </a:rPr>
              <a:t>Listing Prep for Sellers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58932" y="6743700"/>
            <a:ext cx="1341668" cy="1051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400" b="1" i="0" spc="95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CLIENT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981444"/>
            <a:ext cx="1298448" cy="1737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1008" b="0" i="1">
                <a:solidFill>
                  <a:srgbClr val="97A98C"/>
                </a:solidFill>
                <a:latin typeface="Cormorant Garamond"/>
                <a:ea typeface="Cormorant Garamond"/>
                <a:cs typeface="Cormorant Garamond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6986016"/>
            <a:ext cx="3728823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0000"/>
              </a:lnSpc>
            </a:pPr>
            <a:r>
              <a:rPr sz="1008" b="0" i="0">
                <a:solidFill>
                  <a:srgbClr val="FBFAF7"/>
                </a:solidFill>
                <a:latin typeface="Cormorant Garamond"/>
                <a:ea typeface="Cormorant Garamond"/>
                <a:cs typeface="Cormorant Garamond"/>
              </a:rPr>
              <a:t>Buyer Consultation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2791" y="7040880"/>
            <a:ext cx="1327809" cy="1051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400" b="1" i="0" spc="95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AGENT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7278624"/>
            <a:ext cx="1298448" cy="1737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1008" b="0" i="1">
                <a:solidFill>
                  <a:srgbClr val="97A98C"/>
                </a:solidFill>
                <a:latin typeface="Cormorant Garamond"/>
                <a:ea typeface="Cormorant Garamond"/>
                <a:cs typeface="Cormorant Garamond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7283196"/>
            <a:ext cx="3714964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0000"/>
              </a:lnSpc>
            </a:pPr>
            <a:r>
              <a:rPr sz="1008" b="0" i="0">
                <a:solidFill>
                  <a:srgbClr val="FBFAF7"/>
                </a:solidFill>
                <a:latin typeface="Cormorant Garamond"/>
                <a:ea typeface="Cormorant Garamond"/>
                <a:cs typeface="Cormorant Garamond"/>
              </a:rPr>
              <a:t>Showing Scorecard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58932" y="7338060"/>
            <a:ext cx="1341668" cy="1051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400" b="1" i="0" spc="95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CLIENT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7575804"/>
            <a:ext cx="1298448" cy="1737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1008" b="0" i="1">
                <a:solidFill>
                  <a:srgbClr val="97A98C"/>
                </a:solidFill>
                <a:latin typeface="Cormorant Garamond"/>
                <a:ea typeface="Cormorant Garamond"/>
                <a:cs typeface="Cormorant Garamond"/>
              </a:rPr>
              <a:t>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" y="7580376"/>
            <a:ext cx="3728823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0000"/>
              </a:lnSpc>
            </a:pPr>
            <a:r>
              <a:rPr sz="1008" b="0" i="0">
                <a:solidFill>
                  <a:srgbClr val="FBFAF7"/>
                </a:solidFill>
                <a:latin typeface="Cormorant Garamond"/>
                <a:ea typeface="Cormorant Garamond"/>
                <a:cs typeface="Cormorant Garamond"/>
              </a:rPr>
              <a:t>Offer &amp; Under-Contract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72791" y="7635240"/>
            <a:ext cx="1327809" cy="1051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400" b="1" i="0" spc="95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AGENT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7872984"/>
            <a:ext cx="1298448" cy="1737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1008" b="0" i="1">
                <a:solidFill>
                  <a:srgbClr val="97A98C"/>
                </a:solidFill>
                <a:latin typeface="Cormorant Garamond"/>
                <a:ea typeface="Cormorant Garamond"/>
                <a:cs typeface="Cormorant Garamond"/>
              </a:rPr>
              <a:t>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8" y="7877556"/>
            <a:ext cx="3728823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0000"/>
              </a:lnSpc>
            </a:pPr>
            <a:r>
              <a:rPr sz="1008" b="0" i="0">
                <a:solidFill>
                  <a:srgbClr val="FBFAF7"/>
                </a:solidFill>
                <a:latin typeface="Cormorant Garamond"/>
                <a:ea typeface="Cormorant Garamond"/>
                <a:cs typeface="Cormorant Garamond"/>
              </a:rPr>
              <a:t>Seller Under-Contract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72791" y="7932420"/>
            <a:ext cx="1327809" cy="1051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400" b="1" i="0" spc="95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AGENT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69080" y="6387084"/>
            <a:ext cx="1298448" cy="1737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1008" b="0" i="1">
                <a:solidFill>
                  <a:srgbClr val="97A98C"/>
                </a:solidFill>
                <a:latin typeface="Cormorant Garamond"/>
                <a:ea typeface="Cormorant Garamond"/>
                <a:cs typeface="Cormorant Garamond"/>
              </a:rPr>
              <a:t>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61688" y="6391656"/>
            <a:ext cx="3728823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0000"/>
              </a:lnSpc>
            </a:pPr>
            <a:r>
              <a:rPr sz="1008" b="0" i="0">
                <a:solidFill>
                  <a:srgbClr val="FBFAF7"/>
                </a:solidFill>
                <a:latin typeface="Cormorant Garamond"/>
                <a:ea typeface="Cormorant Garamond"/>
                <a:cs typeface="Cormorant Garamond"/>
              </a:rPr>
              <a:t>Open House Prep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84671" y="6446520"/>
            <a:ext cx="1327809" cy="1051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400" b="1" i="0" spc="95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AGENT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69080" y="6684264"/>
            <a:ext cx="1298448" cy="1737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1008" b="0" i="1">
                <a:solidFill>
                  <a:srgbClr val="97A98C"/>
                </a:solidFill>
                <a:latin typeface="Cormorant Garamond"/>
                <a:ea typeface="Cormorant Garamond"/>
                <a:cs typeface="Cormorant Garamond"/>
              </a:rPr>
              <a:t>08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61688" y="6688836"/>
            <a:ext cx="3714964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0000"/>
              </a:lnSpc>
            </a:pPr>
            <a:r>
              <a:rPr sz="1008" b="0" i="0">
                <a:solidFill>
                  <a:srgbClr val="FBFAF7"/>
                </a:solidFill>
                <a:latin typeface="Cormorant Garamond"/>
                <a:ea typeface="Cormorant Garamond"/>
                <a:cs typeface="Cormorant Garamond"/>
              </a:rPr>
              <a:t>Closing Day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70812" y="6743700"/>
            <a:ext cx="1341668" cy="1051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400" b="1" i="0" spc="95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CLIENT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69080" y="6981444"/>
            <a:ext cx="1298448" cy="1737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1008" b="0" i="1">
                <a:solidFill>
                  <a:srgbClr val="97A98C"/>
                </a:solidFill>
                <a:latin typeface="Cormorant Garamond"/>
                <a:ea typeface="Cormorant Garamond"/>
                <a:cs typeface="Cormorant Garamond"/>
              </a:rPr>
              <a:t>09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61688" y="6986016"/>
            <a:ext cx="3714964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0000"/>
              </a:lnSpc>
            </a:pPr>
            <a:r>
              <a:rPr sz="1008" b="0" i="0">
                <a:solidFill>
                  <a:srgbClr val="FBFAF7"/>
                </a:solidFill>
                <a:latin typeface="Cormorant Garamond"/>
                <a:ea typeface="Cormorant Garamond"/>
                <a:cs typeface="Cormorant Garamond"/>
              </a:rPr>
              <a:t>Moving Checklist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70812" y="7040880"/>
            <a:ext cx="1341668" cy="1051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400" b="1" i="0" spc="95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CLIENT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69080" y="7278624"/>
            <a:ext cx="1298448" cy="1737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1008" b="0" i="1">
                <a:solidFill>
                  <a:srgbClr val="97A98C"/>
                </a:solidFill>
                <a:latin typeface="Cormorant Garamond"/>
                <a:ea typeface="Cormorant Garamond"/>
                <a:cs typeface="Cormorant Garamond"/>
              </a:rPr>
              <a:t>10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61688" y="7283196"/>
            <a:ext cx="3714964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0000"/>
              </a:lnSpc>
            </a:pPr>
            <a:r>
              <a:rPr sz="1008" b="0" i="0">
                <a:solidFill>
                  <a:srgbClr val="FBFAF7"/>
                </a:solidFill>
                <a:latin typeface="Cormorant Garamond"/>
                <a:ea typeface="Cormorant Garamond"/>
                <a:cs typeface="Cormorant Garamond"/>
              </a:rPr>
              <a:t>First 30 Days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70812" y="7338060"/>
            <a:ext cx="1341668" cy="1051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400" b="1" i="0" spc="95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CLIENT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69080" y="7575804"/>
            <a:ext cx="1298448" cy="1737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1008" b="0" i="1">
                <a:solidFill>
                  <a:srgbClr val="97A98C"/>
                </a:solidFill>
                <a:latin typeface="Cormorant Garamond"/>
                <a:ea typeface="Cormorant Garamond"/>
                <a:cs typeface="Cormorant Garamond"/>
              </a:rPr>
              <a:t>11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61688" y="7580376"/>
            <a:ext cx="3610308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0000"/>
              </a:lnSpc>
            </a:pPr>
            <a:r>
              <a:rPr sz="1008" b="0" i="0">
                <a:solidFill>
                  <a:srgbClr val="FBFAF7"/>
                </a:solidFill>
                <a:latin typeface="Cormorant Garamond"/>
                <a:ea typeface="Cormorant Garamond"/>
                <a:cs typeface="Cormorant Garamond"/>
              </a:rPr>
              <a:t>Build Your Own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66156" y="7635240"/>
            <a:ext cx="1446324" cy="1051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400" b="1" i="0" spc="95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TEMPLATE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9678924"/>
            <a:ext cx="2414373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0" i="0" spc="126">
                <a:solidFill>
                  <a:srgbClr val="FBFAF7"/>
                </a:solidFill>
                <a:latin typeface="Poppins"/>
                <a:ea typeface="Poppins"/>
                <a:cs typeface="Poppins"/>
              </a:rPr>
              <a:t>THE REAL ESTATE CHECKLIST PACK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251" y="9665208"/>
            <a:ext cx="1829229" cy="10058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26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MAYAELLISON.COM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