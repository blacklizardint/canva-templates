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393192"/>
            <a:ext cx="2286" cy="182880"/>
          </a:xfrm>
          <a:prstGeom prst="rect">
            <a:avLst/>
          </a:prstGeom>
          <a:solidFill>
            <a:srgbClr val="33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46404"/>
            <a:ext cx="1236583" cy="214884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0300" y="1031216"/>
            <a:ext cx="45261" cy="45261"/>
          </a:xfrm>
          <a:prstGeom prst="rect">
            <a:avLst/>
          </a:prstGeom>
          <a:solidFill>
            <a:srgbClr val="33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457200" y="717804"/>
            <a:ext cx="6858000" cy="0"/>
          </a:xfrm>
          <a:prstGeom prst="line">
            <a:avLst/>
          </a:prstGeom>
          <a:ln w="6350">
            <a:solidFill>
              <a:srgbClr val="C2C0B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  <a:ln w="6350">
            <a:solidFill>
              <a:srgbClr val="333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237208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14216" y="2237208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546247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14216" y="2546247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855285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14216" y="2855285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164324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14216" y="3164324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473363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14216" y="3473363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782401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457200" y="9582912"/>
            <a:ext cx="6858000" cy="0"/>
          </a:xfrm>
          <a:prstGeom prst="line">
            <a:avLst/>
          </a:prstGeom>
          <a:ln w="6350">
            <a:solidFill>
              <a:srgbClr val="C2C0B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786" b="0" i="1" spc="31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1822" y="416052"/>
            <a:ext cx="1642491" cy="1417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792" b="0" i="1" spc="3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Maya Ellison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9266" y="450342"/>
            <a:ext cx="2283214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42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CHECKLIST 05 · BUYER OFFER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424" y="946404"/>
            <a:ext cx="2130639" cy="21488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540" b="1" i="0" spc="151">
                <a:solidFill>
                  <a:srgbClr val="33322E"/>
                </a:solidFill>
                <a:latin typeface="Poppins"/>
                <a:ea typeface="Poppins"/>
                <a:cs typeface="Poppins"/>
              </a:rPr>
              <a:t>AGENT WORKFLOW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1271016"/>
            <a:ext cx="7955280" cy="45641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2000"/>
              </a:lnSpc>
            </a:pPr>
            <a:r>
              <a:rPr sz="3311" b="0" i="1" spc="-66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Offer &amp; Under-Contract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1773150"/>
            <a:ext cx="6355080" cy="19888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50000"/>
              </a:lnSpc>
            </a:pPr>
            <a:r>
              <a:rPr sz="900" b="0" i="0">
                <a:solidFill>
                  <a:srgbClr val="8A867E"/>
                </a:solidFill>
                <a:latin typeface="Lato"/>
                <a:ea typeface="Lato"/>
                <a:cs typeface="Lato"/>
              </a:rPr>
              <a:t>Keep a buyer deal on track from offer to clear-to-close.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" y="2218920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Submit offer &amp; disclosures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79392" y="2218920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Earnest money deposited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" y="2527959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Acceptance &amp; timelines logged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9392" y="2527959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Order inspection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" y="2836997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Negotiate repairs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79392" y="2836997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Appraisal ordered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" y="3146036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Loan application complete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79392" y="3146036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Title &amp; survey ordered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" y="3455075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Homeowner's insurance bound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79392" y="3455075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Final walkthrough scheduled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" y="3764113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Clear to close confirmed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9678924"/>
            <a:ext cx="2414373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0" i="0" spc="126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THE REAL ESTATE CHECKLIST PACK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251" y="9665208"/>
            <a:ext cx="1829229" cy="10058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26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MAYAELLISON.COM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