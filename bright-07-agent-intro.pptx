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0287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287000" cy="10287000"/>
          </a:xfrm>
          <a:prstGeom prst="rect">
            <a:avLst/>
          </a:prstGeom>
          <a:solidFill>
            <a:srgbClr val="FB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62000" y="1409700"/>
            <a:ext cx="8763000" cy="9525"/>
          </a:xfrm>
          <a:prstGeom prst="rect">
            <a:avLst/>
          </a:prstGeom>
          <a:solidFill>
            <a:srgbClr val="C4CD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62000" y="771525"/>
            <a:ext cx="381000" cy="381000"/>
          </a:xfrm>
          <a:prstGeom prst="ellipse">
            <a:avLst/>
          </a:prstGeom>
          <a:noFill/>
          <a:ln w="9525">
            <a:solidFill>
              <a:srgbClr val="97A9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34234" y="2171700"/>
            <a:ext cx="666750" cy="9525"/>
          </a:xfrm>
          <a:prstGeom prst="rect">
            <a:avLst/>
          </a:prstGeom>
          <a:solidFill>
            <a:srgbClr val="97A9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985867" y="2171700"/>
            <a:ext cx="666750" cy="9525"/>
          </a:xfrm>
          <a:prstGeom prst="rect">
            <a:avLst/>
          </a:prstGeom>
          <a:solidFill>
            <a:srgbClr val="97A9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62000" y="9134475"/>
            <a:ext cx="8763000" cy="9525"/>
          </a:xfrm>
          <a:prstGeom prst="rect">
            <a:avLst/>
          </a:prstGeom>
          <a:solidFill>
            <a:srgbClr val="C4CD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762000" y="9415462"/>
            <a:ext cx="66675" cy="66675"/>
          </a:xfrm>
          <a:prstGeom prst="ellipse">
            <a:avLst/>
          </a:prstGeom>
          <a:solidFill>
            <a:srgbClr val="E6D2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0341" y="876300"/>
            <a:ext cx="803672" cy="17145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</a:pPr>
            <a:r>
              <a:rPr sz="1350" i="0" b="0" spc="27">
                <a:solidFill>
                  <a:srgbClr val="97A98C"/>
                </a:solidFill>
                <a:latin typeface="Cormorant Garamond"/>
                <a:ea typeface="Cormorant Garamond"/>
                <a:cs typeface="Cormorant Garamond"/>
              </a:rPr>
              <a:t>ME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95400" y="762000"/>
            <a:ext cx="3282315" cy="22860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</a:pPr>
            <a:r>
              <a:rPr sz="1800" i="0" b="0">
                <a:solidFill>
                  <a:srgbClr val="33322E"/>
                </a:solidFill>
                <a:latin typeface="Cormorant Garamond"/>
                <a:ea typeface="Cormorant Garamond"/>
                <a:cs typeface="Cormorant Garamond"/>
              </a:rPr>
              <a:t>Maya Ellison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95400" y="1038225"/>
            <a:ext cx="3282315" cy="12382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637" i="0" b="0" spc="216">
                <a:solidFill>
                  <a:srgbClr val="8A867E"/>
                </a:solidFill>
                <a:latin typeface="Poppins"/>
                <a:ea typeface="Poppins"/>
                <a:cs typeface="Poppins"/>
              </a:rPr>
              <a:t>REALTOR®  |  MODERN LIVING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00491" y="914400"/>
            <a:ext cx="3620214" cy="9525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</a:pPr>
            <a:r>
              <a:rPr sz="750" i="0" b="0" spc="270">
                <a:solidFill>
                  <a:srgbClr val="97A98C"/>
                </a:solidFill>
                <a:latin typeface="Poppins"/>
                <a:ea typeface="Poppins"/>
                <a:cs typeface="Poppins"/>
              </a:rPr>
              <a:t>07 · AGENT INTRODUCTION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09819" y="2116931"/>
            <a:ext cx="2467213" cy="119062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>
              <a:lnSpc>
                <a:spcPct val="100000"/>
              </a:lnSpc>
            </a:pPr>
            <a:r>
              <a:rPr sz="937" i="0" b="0" spc="412">
                <a:solidFill>
                  <a:srgbClr val="97A98C"/>
                </a:solidFill>
                <a:latin typeface="Poppins"/>
                <a:ea typeface="Poppins"/>
                <a:cs typeface="Poppins"/>
              </a:rPr>
              <a:t>HELLO THERE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-2057400" y="5131594"/>
            <a:ext cx="14401800" cy="70485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>
              <a:lnSpc>
                <a:spcPct val="100000"/>
              </a:lnSpc>
            </a:pPr>
            <a:r>
              <a:rPr sz="5550" i="1" b="0">
                <a:solidFill>
                  <a:srgbClr val="33322E"/>
                </a:solidFill>
                <a:latin typeface="Cormorant Garamond"/>
                <a:ea typeface="Cormorant Garamond"/>
                <a:cs typeface="Cormorant Garamond"/>
              </a:rPr>
              <a:t>Maya Ellison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-2057400" y="5931694"/>
            <a:ext cx="14401800" cy="16192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/>
            <a:r>
              <a:rPr sz="825" i="0" b="0" spc="264">
                <a:solidFill>
                  <a:srgbClr val="8A867E"/>
                </a:solidFill>
                <a:latin typeface="Poppins"/>
                <a:ea typeface="Poppins"/>
                <a:cs typeface="Poppins"/>
              </a:rPr>
              <a:t>REALTOR®  |  MODERN LIVING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09750" y="6341269"/>
            <a:ext cx="6667500" cy="51792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70000"/>
              </a:lnSpc>
            </a:pPr>
            <a:r>
              <a:rPr sz="1200" i="0" b="0">
                <a:solidFill>
                  <a:srgbClr val="33322E"/>
                </a:solidFill>
                <a:latin typeface="Lato"/>
                <a:ea typeface="Lato"/>
                <a:cs typeface="Lato"/>
              </a:rPr>
              <a:t>Helping Austin buyers and sellers find calm in a busy market — with honest guidance, modern marketing, and a whole lot of heart.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2975" y="9372600"/>
            <a:ext cx="4217432" cy="15240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750" i="0" b="0" spc="195">
                <a:solidFill>
                  <a:srgbClr val="8A867E"/>
                </a:solidFill>
                <a:latin typeface="Poppins"/>
                <a:ea typeface="Poppins"/>
                <a:cs typeface="Poppins"/>
              </a:rPr>
              <a:t>@MAYAELLISON · MAYAELLISON.COM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88859" y="9372600"/>
            <a:ext cx="2038826" cy="15240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750" i="0" b="0" spc="195">
                <a:solidFill>
                  <a:srgbClr val="97A98C"/>
                </a:solidFill>
                <a:latin typeface="Poppins"/>
                <a:ea typeface="Poppins"/>
                <a:cs typeface="Poppins"/>
              </a:rPr>
              <a:t>LET’S CONNECT</a:t>
            </a:r>
          </a:p>
        </p:txBody>
      </p:sp>
      <p:pic>
        <p:nvPicPr>
          <p:cNvPr id="19" name="Picture 18" descr="bright-07-agent-intro_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00500" y="2559844"/>
            <a:ext cx="2286000" cy="2286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