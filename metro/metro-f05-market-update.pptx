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66750" y="1219200"/>
            <a:ext cx="8953500" cy="9525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666750"/>
            <a:ext cx="342900" cy="9525"/>
          </a:xfrm>
          <a:prstGeom prst="rect">
            <a:avLst/>
          </a:prstGeom>
          <a:solidFill>
            <a:srgbClr val="14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66750" y="1000125"/>
            <a:ext cx="342900" cy="9525"/>
          </a:xfrm>
          <a:prstGeom prst="rect">
            <a:avLst/>
          </a:prstGeom>
          <a:solidFill>
            <a:srgbClr val="14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6750" y="666750"/>
            <a:ext cx="9525" cy="342900"/>
          </a:xfrm>
          <a:prstGeom prst="rect">
            <a:avLst/>
          </a:prstGeom>
          <a:solidFill>
            <a:srgbClr val="14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00125" y="666750"/>
            <a:ext cx="9525" cy="342900"/>
          </a:xfrm>
          <a:prstGeom prst="rect">
            <a:avLst/>
          </a:prstGeom>
          <a:solidFill>
            <a:srgbClr val="14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44801" y="4852988"/>
            <a:ext cx="9525" cy="1247775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32525" y="4852988"/>
            <a:ext cx="9525" cy="1247775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66750" y="9315450"/>
            <a:ext cx="8953500" cy="9525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4914" y="9527452"/>
            <a:ext cx="80822" cy="80822"/>
          </a:xfrm>
          <a:prstGeom prst="rect">
            <a:avLst/>
          </a:prstGeom>
          <a:solidFill>
            <a:srgbClr val="2D5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2801" y="776288"/>
            <a:ext cx="686276" cy="1238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975" i="0" b="1" spc="19">
                <a:solidFill>
                  <a:srgbClr val="14161A"/>
                </a:solidFill>
                <a:latin typeface="Space Grotesk"/>
                <a:ea typeface="Space Grotesk"/>
                <a:cs typeface="Space Grotesk"/>
              </a:rPr>
              <a:t>NO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681038"/>
            <a:ext cx="4037409" cy="1714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350" i="0" b="1" spc="27">
                <a:solidFill>
                  <a:srgbClr val="14161A"/>
                </a:solidFill>
                <a:latin typeface="Space Grotesk"/>
                <a:ea typeface="Space Grotesk"/>
                <a:cs typeface="Space Grotesk"/>
              </a:rPr>
              <a:t>North &amp; Oak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909638"/>
            <a:ext cx="4037409" cy="857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600" i="0" b="0" spc="168">
                <a:solidFill>
                  <a:srgbClr val="8A8F99"/>
                </a:solidFill>
                <a:latin typeface="Space Mono"/>
                <a:ea typeface="Space Mono"/>
                <a:cs typeface="Space Mono"/>
              </a:rPr>
              <a:t>REALTOR® · CONDO &amp; LOFT SPECIALIST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02228" y="776288"/>
            <a:ext cx="2489835" cy="1238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825" i="0" b="0" spc="49">
                <a:solidFill>
                  <a:srgbClr val="8A8F99"/>
                </a:solidFill>
                <a:latin typeface="Space Mono"/>
                <a:ea typeface="Space Mono"/>
                <a:cs typeface="Space Mono"/>
              </a:rPr>
              <a:t>MAY 2026 · ISSUE 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6750" y="3555355"/>
            <a:ext cx="14706600" cy="1333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900" i="0" b="0" spc="324">
                <a:solidFill>
                  <a:srgbClr val="2D5BE3"/>
                </a:solidFill>
                <a:latin typeface="Space Mono"/>
                <a:ea typeface="Space Mono"/>
                <a:cs typeface="Space Mono"/>
              </a:rPr>
              <a:t>THE MARKET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6750" y="3841105"/>
            <a:ext cx="14706600" cy="630882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92000"/>
              </a:lnSpc>
            </a:pPr>
            <a:r>
              <a:rPr sz="5400" i="0" b="1" spc="-216">
                <a:solidFill>
                  <a:srgbClr val="14161A"/>
                </a:solidFill>
                <a:latin typeface="Space Grotesk"/>
                <a:ea typeface="Space Grotesk"/>
                <a:cs typeface="Space Grotesk"/>
              </a:rPr>
              <a:t>Chicago, by the numbers.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852988"/>
            <a:ext cx="4353401" cy="1238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825" i="0" b="0" spc="132">
                <a:solidFill>
                  <a:srgbClr val="8A8F99"/>
                </a:solidFill>
                <a:latin typeface="Space Mono"/>
                <a:ea typeface="Space Mono"/>
                <a:cs typeface="Space Mono"/>
              </a:rPr>
              <a:t>01 · MEDIAN PRICE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072062"/>
            <a:ext cx="4353401" cy="6858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5400" i="0" b="1" spc="-162">
                <a:solidFill>
                  <a:srgbClr val="14161A"/>
                </a:solidFill>
                <a:latin typeface="Space Grotesk"/>
                <a:ea typeface="Space Grotesk"/>
                <a:cs typeface="Space Grotesk"/>
              </a:rPr>
              <a:t>$1.12M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834062"/>
            <a:ext cx="4353401" cy="1333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900" i="0" b="1">
                <a:solidFill>
                  <a:srgbClr val="2D5BE3"/>
                </a:solidFill>
                <a:latin typeface="Space Grotesk"/>
                <a:ea typeface="Space Grotesk"/>
                <a:cs typeface="Space Grotesk"/>
              </a:rPr>
              <a:t>+ 2.8%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986462"/>
            <a:ext cx="4353401" cy="1143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825" i="0" b="0">
                <a:solidFill>
                  <a:srgbClr val="8A8F99"/>
                </a:solidFill>
                <a:latin typeface="Space Grotesk"/>
                <a:ea typeface="Space Grotesk"/>
                <a:cs typeface="Space Grotesk"/>
              </a:rPr>
              <a:t>vs. prior month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01976" y="4852988"/>
            <a:ext cx="4353639" cy="1238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825" i="0" b="0" spc="132">
                <a:solidFill>
                  <a:srgbClr val="8A8F99"/>
                </a:solidFill>
                <a:latin typeface="Space Mono"/>
                <a:ea typeface="Space Mono"/>
                <a:cs typeface="Space Mono"/>
              </a:rPr>
              <a:t>02 · DAYS ON MARKET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01976" y="5072062"/>
            <a:ext cx="4353639" cy="6858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5400" i="0" b="1" spc="-162">
                <a:solidFill>
                  <a:srgbClr val="14161A"/>
                </a:solidFill>
                <a:latin typeface="Space Grotesk"/>
                <a:ea typeface="Space Grotesk"/>
                <a:cs typeface="Space Grotesk"/>
              </a:rPr>
              <a:t>24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01976" y="5834062"/>
            <a:ext cx="4353639" cy="1333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900" i="0" b="1">
                <a:solidFill>
                  <a:srgbClr val="2D5BE3"/>
                </a:solidFill>
                <a:latin typeface="Space Grotesk"/>
                <a:ea typeface="Space Grotesk"/>
                <a:cs typeface="Space Grotesk"/>
              </a:rPr>
              <a:t>− 9 days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01976" y="5986462"/>
            <a:ext cx="4353639" cy="1143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825" i="0" b="0">
                <a:solidFill>
                  <a:srgbClr val="8A8F99"/>
                </a:solidFill>
                <a:latin typeface="Space Grotesk"/>
                <a:ea typeface="Space Grotesk"/>
                <a:cs typeface="Space Grotesk"/>
              </a:rPr>
              <a:t>vs. prior month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89700" y="4852988"/>
            <a:ext cx="4353639" cy="1238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825" i="0" b="0" spc="132">
                <a:solidFill>
                  <a:srgbClr val="8A8F99"/>
                </a:solidFill>
                <a:latin typeface="Space Mono"/>
                <a:ea typeface="Space Mono"/>
                <a:cs typeface="Space Mono"/>
              </a:rPr>
              <a:t>03 · NEW LISTINGS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89700" y="5072062"/>
            <a:ext cx="4353639" cy="6858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5400" i="0" b="1" spc="-162">
                <a:solidFill>
                  <a:srgbClr val="14161A"/>
                </a:solidFill>
                <a:latin typeface="Space Grotesk"/>
                <a:ea typeface="Space Grotesk"/>
                <a:cs typeface="Space Grotesk"/>
              </a:rPr>
              <a:t>188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89700" y="5834062"/>
            <a:ext cx="4353639" cy="1333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900" i="0" b="1">
                <a:solidFill>
                  <a:srgbClr val="2D5BE3"/>
                </a:solidFill>
                <a:latin typeface="Space Grotesk"/>
                <a:ea typeface="Space Grotesk"/>
                <a:cs typeface="Space Grotesk"/>
              </a:rPr>
              <a:t>+ 14 listings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89700" y="5986462"/>
            <a:ext cx="4353639" cy="1143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825" i="0" b="0">
                <a:solidFill>
                  <a:srgbClr val="8A8F99"/>
                </a:solidFill>
                <a:latin typeface="Space Grotesk"/>
                <a:ea typeface="Space Grotesk"/>
                <a:cs typeface="Space Grotesk"/>
              </a:rPr>
              <a:t>vs. prior month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6750" y="6481762"/>
            <a:ext cx="7810500" cy="421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8000"/>
              </a:lnSpc>
            </a:pPr>
            <a:r>
              <a:rPr sz="1050" i="0" b="0">
                <a:solidFill>
                  <a:srgbClr val="24272E"/>
                </a:solidFill>
                <a:latin typeface="Space Grotesk"/>
                <a:ea typeface="Space Grotesk"/>
                <a:cs typeface="Space Grotesk"/>
              </a:rPr>
              <a:t>Inventory is up, days-on-market are down, and city buyers are moving fast on well-priced condos. The window for sellers is real — and narrowing.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8675" y="9515475"/>
            <a:ext cx="4279344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210">
                <a:solidFill>
                  <a:srgbClr val="24272E"/>
                </a:solidFill>
                <a:latin typeface="Space Mono"/>
                <a:ea typeface="Space Mono"/>
                <a:cs typeface="Space Mono"/>
              </a:rPr>
              <a:t>@NORTHANDOAK · NORTHANDOAK.CO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19839" y="9515475"/>
            <a:ext cx="3741658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1" spc="210">
                <a:solidFill>
                  <a:srgbClr val="2D5BE3"/>
                </a:solidFill>
                <a:latin typeface="Space Mono"/>
                <a:ea typeface="Space Mono"/>
                <a:cs typeface="Space Mono"/>
              </a:rPr>
              <a:t>FULL REPORT — LINK IN BIO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