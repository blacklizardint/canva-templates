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19200"/>
            <a:ext cx="8953500" cy="9525"/>
          </a:xfrm>
          <a:prstGeom prst="rect">
            <a:avLst/>
          </a:prstGeom>
          <a:solidFill>
            <a:srgbClr val="3E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3429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00125"/>
            <a:ext cx="3429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666750"/>
            <a:ext cx="9525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2941" y="5615466"/>
            <a:ext cx="94293" cy="94293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2941" y="6110766"/>
            <a:ext cx="94293" cy="94293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2941" y="6606066"/>
            <a:ext cx="94293" cy="94293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3E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801" y="776288"/>
            <a:ext cx="686276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975" i="0" b="1" spc="19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81038"/>
            <a:ext cx="4037409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1" spc="27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North &amp; Oak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909638"/>
            <a:ext cx="4037409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0" spc="168">
                <a:solidFill>
                  <a:srgbClr val="A1A2A3"/>
                </a:solidFill>
                <a:latin typeface="Space Mono"/>
                <a:ea typeface="Space Mono"/>
                <a:cs typeface="Space Mono"/>
              </a:rPr>
              <a:t>REALTOR® · CONDO &amp; LOFT SPECIALIST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5015" y="785812"/>
            <a:ext cx="2629376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01 · JUST LISTED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3409950"/>
            <a:ext cx="8197691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324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JUST LISTED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3752850"/>
            <a:ext cx="8197691" cy="571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4500" i="0" b="1" spc="-90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1200 N Wells, 14C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4476750"/>
            <a:ext cx="8197691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247">
                <a:solidFill>
                  <a:srgbClr val="B8B9BA"/>
                </a:solidFill>
                <a:latin typeface="Space Mono"/>
                <a:ea typeface="Space Mono"/>
                <a:cs typeface="Space Mono"/>
              </a:rPr>
              <a:t>RIVER NORTH, CHICAGO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4772025"/>
            <a:ext cx="8197691" cy="4286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i="0" b="1" spc="-30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$895,000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775" y="5562600"/>
            <a:ext cx="2684859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1" spc="10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2 BD · 2 BA · 1,480 SF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775" y="5753100"/>
            <a:ext cx="2684859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8">
                <a:solidFill>
                  <a:srgbClr val="959698"/>
                </a:solidFill>
                <a:latin typeface="HK Grotesk"/>
                <a:ea typeface="HK Grotesk"/>
                <a:cs typeface="HK Grotesk"/>
              </a:rPr>
              <a:t>Beds · Baths · Square footage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775" y="6057900"/>
            <a:ext cx="2829401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1" spc="10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Chef’s Kitchen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775" y="6248400"/>
            <a:ext cx="2829401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8">
                <a:solidFill>
                  <a:srgbClr val="959698"/>
                </a:solidFill>
                <a:latin typeface="HK Grotesk"/>
                <a:ea typeface="HK Grotesk"/>
                <a:cs typeface="HK Grotesk"/>
              </a:rPr>
              <a:t>Quartz island · integrated Bosch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775" y="6553200"/>
            <a:ext cx="249650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1" spc="10">
                <a:solidFill>
                  <a:srgbClr val="FFFFFF"/>
                </a:solidFill>
                <a:latin typeface="HK Grotesk"/>
                <a:ea typeface="HK Grotesk"/>
                <a:cs typeface="HK Grotesk"/>
              </a:rPr>
              <a:t>Private Balcony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775" y="6743700"/>
            <a:ext cx="2496502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8">
                <a:solidFill>
                  <a:srgbClr val="959698"/>
                </a:solidFill>
                <a:latin typeface="HK Grotesk"/>
                <a:ea typeface="HK Grotesk"/>
                <a:cs typeface="HK Grotesk"/>
              </a:rPr>
              <a:t>South-facing · skyline views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75" y="9515475"/>
            <a:ext cx="427934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10">
                <a:solidFill>
                  <a:srgbClr val="C4C5C6"/>
                </a:solidFill>
                <a:latin typeface="Space Mono"/>
                <a:ea typeface="Space Mono"/>
                <a:cs typeface="Space Mono"/>
              </a:rPr>
              <a:t>@NORTHANDOAK · NORTHANDOAK.CO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9832" y="9515475"/>
            <a:ext cx="306966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DM FOR THE FULL TOUR</a:t>
            </a:r>
          </a:p>
        </p:txBody>
      </p:sp>
      <p:pic>
        <p:nvPicPr>
          <p:cNvPr id="29" name="Picture 28" descr="metro-f01-just-listed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9382" y="1695450"/>
            <a:ext cx="3610868" cy="7067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