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14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66750" y="1219200"/>
            <a:ext cx="8953500" cy="9525"/>
          </a:xfrm>
          <a:prstGeom prst="rect">
            <a:avLst/>
          </a:prstGeom>
          <a:solidFill>
            <a:srgbClr val="3E4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6750" y="666750"/>
            <a:ext cx="3429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66750" y="1000125"/>
            <a:ext cx="3429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66750" y="666750"/>
            <a:ext cx="9525" cy="342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00125" y="666750"/>
            <a:ext cx="9525" cy="342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66750" y="3819674"/>
            <a:ext cx="571500" cy="9525"/>
          </a:xfrm>
          <a:prstGeom prst="rect">
            <a:avLst/>
          </a:prstGeom>
          <a:solidFill>
            <a:srgbClr val="2D5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6750" y="9315450"/>
            <a:ext cx="8953500" cy="9525"/>
          </a:xfrm>
          <a:prstGeom prst="rect">
            <a:avLst/>
          </a:prstGeom>
          <a:solidFill>
            <a:srgbClr val="3E4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4914" y="9527452"/>
            <a:ext cx="80822" cy="80822"/>
          </a:xfrm>
          <a:prstGeom prst="rect">
            <a:avLst/>
          </a:prstGeom>
          <a:solidFill>
            <a:srgbClr val="2D5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2801" y="776288"/>
            <a:ext cx="686276" cy="1238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975" i="0" b="1" spc="19">
                <a:solidFill>
                  <a:srgbClr val="FFFFFF"/>
                </a:solidFill>
                <a:latin typeface="HK Grotesk"/>
                <a:ea typeface="HK Grotesk"/>
                <a:cs typeface="HK Grotesk"/>
              </a:rPr>
              <a:t>NO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681038"/>
            <a:ext cx="4037409" cy="1714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1350" i="0" b="1" spc="27">
                <a:solidFill>
                  <a:srgbClr val="FFFFFF"/>
                </a:solidFill>
                <a:latin typeface="HK Grotesk"/>
                <a:ea typeface="HK Grotesk"/>
                <a:cs typeface="HK Grotesk"/>
              </a:rPr>
              <a:t>North &amp; Oak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909638"/>
            <a:ext cx="4037409" cy="857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600" i="0" b="0" spc="168">
                <a:solidFill>
                  <a:srgbClr val="A1A2A3"/>
                </a:solidFill>
                <a:latin typeface="Space Mono"/>
                <a:ea typeface="Space Mono"/>
                <a:cs typeface="Space Mono"/>
              </a:rPr>
              <a:t>REALTOR® · CONDO &amp; LOFT SPECIALIST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02823" y="785812"/>
            <a:ext cx="2488882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0" spc="240">
                <a:solidFill>
                  <a:srgbClr val="2D5BE3"/>
                </a:solidFill>
                <a:latin typeface="Space Mono"/>
                <a:ea typeface="Space Mono"/>
                <a:cs typeface="Space Mono"/>
              </a:rPr>
              <a:t>03 · OPEN HOUSE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6750" y="2285851"/>
            <a:ext cx="14706600" cy="1333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900" i="0" b="0" spc="324">
                <a:solidFill>
                  <a:srgbClr val="2D5BE3"/>
                </a:solidFill>
                <a:latin typeface="Space Mono"/>
                <a:ea typeface="Space Mono"/>
                <a:cs typeface="Space Mono"/>
              </a:rPr>
              <a:t>YOU’RE INVITED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6750" y="2590651"/>
            <a:ext cx="14706600" cy="981373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92000"/>
              </a:lnSpc>
            </a:pPr>
            <a:r>
              <a:rPr sz="8400" i="0" b="1" spc="-336">
                <a:solidFill>
                  <a:srgbClr val="FFFFFF"/>
                </a:solidFill>
                <a:latin typeface="HK Grotesk"/>
                <a:ea typeface="HK Grotesk"/>
                <a:cs typeface="HK Grotesk"/>
              </a:rPr>
              <a:t>Open House.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6750" y="4153049"/>
            <a:ext cx="4690348" cy="1238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825" i="0" b="0" spc="264">
                <a:solidFill>
                  <a:srgbClr val="B8B9BA"/>
                </a:solidFill>
                <a:latin typeface="Space Mono"/>
                <a:ea typeface="Space Mono"/>
                <a:cs typeface="Space Mono"/>
              </a:rPr>
              <a:t>THE ADDRESS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6750" y="4372124"/>
            <a:ext cx="4690348" cy="3714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2550" i="0" b="1" spc="-25">
                <a:solidFill>
                  <a:srgbClr val="FFFFFF"/>
                </a:solidFill>
                <a:latin typeface="HK Grotesk"/>
                <a:ea typeface="HK Grotesk"/>
                <a:cs typeface="HK Grotesk"/>
              </a:rPr>
              <a:t>1200 N Wells, 14C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6750" y="4819799"/>
            <a:ext cx="4690348" cy="1238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825" i="0" b="0" spc="247">
                <a:solidFill>
                  <a:srgbClr val="B8B9BA"/>
                </a:solidFill>
                <a:latin typeface="Space Mono"/>
                <a:ea typeface="Space Mono"/>
                <a:cs typeface="Space Mono"/>
              </a:rPr>
              <a:t>RIVER NORTH, CHICAGO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31593" y="4153049"/>
            <a:ext cx="3510201" cy="1238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825" i="0" b="0" spc="264">
                <a:solidFill>
                  <a:srgbClr val="B8B9BA"/>
                </a:solidFill>
                <a:latin typeface="Space Mono"/>
                <a:ea typeface="Space Mono"/>
                <a:cs typeface="Space Mono"/>
              </a:rPr>
              <a:t>THE DATE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31593" y="4372124"/>
            <a:ext cx="3510201" cy="3714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2550" i="0" b="1" spc="-25">
                <a:solidFill>
                  <a:srgbClr val="FFFFFF"/>
                </a:solidFill>
                <a:latin typeface="HK Grotesk"/>
                <a:ea typeface="HK Grotesk"/>
                <a:cs typeface="HK Grotesk"/>
              </a:rPr>
              <a:t>Sat · June 13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31593" y="4819799"/>
            <a:ext cx="3510201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50" i="0" b="1" spc="42">
                <a:solidFill>
                  <a:srgbClr val="2D5BE3"/>
                </a:solidFill>
                <a:latin typeface="HK Grotesk"/>
                <a:ea typeface="HK Grotesk"/>
                <a:cs typeface="HK Grotesk"/>
              </a:rPr>
              <a:t>1:00 — 4:00 PM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8675" y="9515475"/>
            <a:ext cx="4279344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0" spc="210">
                <a:solidFill>
                  <a:srgbClr val="C4C5C6"/>
                </a:solidFill>
                <a:latin typeface="Space Mono"/>
                <a:ea typeface="Space Mono"/>
                <a:cs typeface="Space Mono"/>
              </a:rPr>
              <a:t>@NORTHANDOAK · NORTHANDOAK.CO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39832" y="9515475"/>
            <a:ext cx="3069669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1" spc="210">
                <a:solidFill>
                  <a:srgbClr val="2D5BE3"/>
                </a:solidFill>
                <a:latin typeface="Space Mono"/>
                <a:ea typeface="Space Mono"/>
                <a:cs typeface="Space Mono"/>
              </a:rPr>
              <a:t>RSVP VIA LINK IN BIO</a:t>
            </a:r>
          </a:p>
        </p:txBody>
      </p:sp>
      <p:pic>
        <p:nvPicPr>
          <p:cNvPr id="25" name="Picture 24" descr="metro-f03-open-house-invite_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50" y="5315099"/>
            <a:ext cx="8953500" cy="2857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