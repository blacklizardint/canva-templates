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5441156"/>
            <a:ext cx="8763000" cy="1457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54411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688895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5441156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15475" y="5441156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7069931"/>
            <a:ext cx="8763000" cy="1457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706993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2000" y="8517731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7069931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15475" y="7069931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8698706"/>
            <a:ext cx="8763000" cy="14573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2000" y="869870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000" y="10146506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2000" y="8698706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8698706"/>
            <a:ext cx="9525" cy="14573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15525750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6373475"/>
            <a:ext cx="8763000" cy="9525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15475" y="15525750"/>
            <a:ext cx="9525" cy="857250"/>
          </a:xfrm>
          <a:prstGeom prst="rect">
            <a:avLst/>
          </a:prstGeom>
          <a:solidFill>
            <a:srgbClr val="DD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1566" y="15907229"/>
            <a:ext cx="94293" cy="94292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175" y="914400"/>
            <a:ext cx="756523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200" i="0" b="1" spc="2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4036" y="900112"/>
            <a:ext cx="5102542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STORY 05 · THE MARKET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" y="28575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0" spc="472">
                <a:solidFill>
                  <a:srgbClr val="2D5BE3"/>
                </a:solidFill>
                <a:latin typeface="Space Mono"/>
                <a:ea typeface="Space Mono"/>
                <a:cs typeface="Space Mono"/>
              </a:rPr>
              <a:t>THE MARKET · MAY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3171825"/>
            <a:ext cx="5852874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Chicago,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977878"/>
            <a:ext cx="10368915" cy="971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6900" i="0" b="1" spc="-276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by the numbers.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275" y="6045994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19089" y="5736431"/>
            <a:ext cx="11538347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MEDIAN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19089" y="5993606"/>
            <a:ext cx="11538347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$1.12M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1030" y="6074569"/>
            <a:ext cx="1194911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7275" y="7674769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19089" y="7365206"/>
            <a:ext cx="11322368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DAYS ON MARKET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19089" y="7622381"/>
            <a:ext cx="11322368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86043" y="7703344"/>
            <a:ext cx="1410891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− 9 days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7275" y="9303544"/>
            <a:ext cx="754142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19089" y="8993981"/>
            <a:ext cx="11840766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NEW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19089" y="9251156"/>
            <a:ext cx="11840766" cy="609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4800" i="0" b="1" spc="-14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0042" y="9332119"/>
            <a:ext cx="892492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1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+ 14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14450" y="15825788"/>
            <a:ext cx="4177189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34">
                <a:solidFill>
                  <a:srgbClr val="14161A"/>
                </a:solidFill>
                <a:latin typeface="Space Grotesk"/>
                <a:ea typeface="Space Grotesk"/>
                <a:cs typeface="Space Grotesk"/>
              </a:rPr>
              <a:t>Full report — tap here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1125" y="15821025"/>
            <a:ext cx="685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8041" y="17249775"/>
            <a:ext cx="7350919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384">
                <a:solidFill>
                  <a:srgbClr val="8A8F99"/>
                </a:solidFill>
                <a:latin typeface="Space Mono"/>
                <a:ea typeface="Space Mono"/>
                <a:cs typeface="Space Mono"/>
              </a:rPr>
              <a:t>@NORTHANDOAK  ◆  NORTHANDOAK.CO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