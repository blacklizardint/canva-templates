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0287000" cy="1828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287000" cy="18288000"/>
          </a:xfrm>
          <a:prstGeom prst="rect">
            <a:avLst/>
          </a:prstGeom>
          <a:solidFill>
            <a:srgbClr val="141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62000" y="15735300"/>
            <a:ext cx="8763000" cy="9525"/>
          </a:xfrm>
          <a:prstGeom prst="rect">
            <a:avLst/>
          </a:prstGeom>
          <a:solidFill>
            <a:srgbClr val="4F5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62000" y="16373475"/>
            <a:ext cx="8763000" cy="9525"/>
          </a:xfrm>
          <a:prstGeom prst="rect">
            <a:avLst/>
          </a:prstGeom>
          <a:solidFill>
            <a:srgbClr val="4F5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62000" y="15735300"/>
            <a:ext cx="9525" cy="647700"/>
          </a:xfrm>
          <a:prstGeom prst="rect">
            <a:avLst/>
          </a:prstGeom>
          <a:solidFill>
            <a:srgbClr val="4F5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515475" y="15735300"/>
            <a:ext cx="9525" cy="647700"/>
          </a:xfrm>
          <a:prstGeom prst="rect">
            <a:avLst/>
          </a:prstGeom>
          <a:solidFill>
            <a:srgbClr val="4F5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24416" y="16012004"/>
            <a:ext cx="94293" cy="94292"/>
          </a:xfrm>
          <a:prstGeom prst="rect">
            <a:avLst/>
          </a:prstGeom>
          <a:solidFill>
            <a:srgbClr val="2D5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2000" y="12096750"/>
            <a:ext cx="14401800" cy="13335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900" i="0" b="0" spc="324">
                <a:solidFill>
                  <a:srgbClr val="2D5BE3"/>
                </a:solidFill>
                <a:latin typeface="Space Mono"/>
                <a:ea typeface="Space Mono"/>
                <a:cs typeface="Space Mono"/>
              </a:rPr>
              <a:t>NEW ON THE MARKET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2000" y="12382500"/>
            <a:ext cx="14401800" cy="630882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ct val="92000"/>
              </a:lnSpc>
            </a:pPr>
            <a:r>
              <a:rPr sz="5400" i="0" b="1" spc="-216">
                <a:solidFill>
                  <a:srgbClr val="FFFFFF"/>
                </a:solidFill>
                <a:latin typeface="Space Grotesk"/>
                <a:ea typeface="Space Grotesk"/>
                <a:cs typeface="Space Grotesk"/>
              </a:rPr>
              <a:t>1200 N Wells, 14C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2000" y="13165782"/>
            <a:ext cx="14401800" cy="10477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750" i="0" b="0" spc="240">
                <a:solidFill>
                  <a:srgbClr val="B8B9BA"/>
                </a:solidFill>
                <a:latin typeface="Space Mono"/>
                <a:ea typeface="Space Mono"/>
                <a:cs typeface="Space Mono"/>
              </a:rPr>
              <a:t>RIVER NORTH, CHICAGO · 2 BD · 2 BA · 1,480 SF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2000" y="13442007"/>
            <a:ext cx="14401800" cy="65722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4500" i="0" b="1" spc="-90">
                <a:solidFill>
                  <a:srgbClr val="2D5BE3"/>
                </a:solidFill>
                <a:latin typeface="Space Grotesk"/>
                <a:ea typeface="Space Grotesk"/>
                <a:cs typeface="Space Grotesk"/>
              </a:rPr>
              <a:t>$895,000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8250" y="15978188"/>
            <a:ext cx="2186226" cy="16192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1125" i="0" b="1" spc="22">
                <a:solidFill>
                  <a:srgbClr val="FFFFFF"/>
                </a:solidFill>
                <a:latin typeface="Space Grotesk"/>
                <a:ea typeface="Space Grotesk"/>
                <a:cs typeface="Space Grotesk"/>
              </a:rPr>
              <a:t>See the full tour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05900" y="15954375"/>
            <a:ext cx="609600" cy="20955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1350" i="0" b="0">
                <a:solidFill>
                  <a:srgbClr val="2D5BE3"/>
                </a:solidFill>
                <a:latin typeface="Space Grotesk"/>
                <a:ea typeface="Space Grotesk"/>
                <a:cs typeface="Space Grotesk"/>
              </a:rPr>
              <a:t>↗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57031" y="17297400"/>
            <a:ext cx="5172789" cy="12382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/>
            <a:r>
              <a:rPr sz="825" i="0" b="0" spc="264">
                <a:solidFill>
                  <a:srgbClr val="B8B9BA"/>
                </a:solidFill>
                <a:latin typeface="Space Mono"/>
                <a:ea typeface="Space Mono"/>
                <a:cs typeface="Space Mono"/>
              </a:rPr>
              <a:t>@NORTHANDOAK  ◆  NORTHANDOAK.CO</a:t>
            </a:r>
          </a:p>
        </p:txBody>
      </p:sp>
      <p:pic>
        <p:nvPicPr>
          <p:cNvPr id="15" name="Picture 14" descr="metro-s01-just-listed_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152525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