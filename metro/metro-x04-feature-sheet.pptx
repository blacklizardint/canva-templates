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6192500" cy="20955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192500" cy="20955000"/>
          </a:xfrm>
          <a:prstGeom prst="rect">
            <a:avLst/>
          </a:prstGeom>
          <a:solidFill>
            <a:srgbClr val="F4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57250" y="1409700"/>
            <a:ext cx="14478000" cy="9525"/>
          </a:xfrm>
          <a:prstGeom prst="rect">
            <a:avLst/>
          </a:prstGeom>
          <a:solidFill>
            <a:srgbClr val="1416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57250" y="857250"/>
            <a:ext cx="342900" cy="9525"/>
          </a:xfrm>
          <a:prstGeom prst="rect">
            <a:avLst/>
          </a:prstGeom>
          <a:solidFill>
            <a:srgbClr val="1416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857250" y="1190625"/>
            <a:ext cx="342900" cy="9525"/>
          </a:xfrm>
          <a:prstGeom prst="rect">
            <a:avLst/>
          </a:prstGeom>
          <a:solidFill>
            <a:srgbClr val="1416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57250" y="857250"/>
            <a:ext cx="9525" cy="342900"/>
          </a:xfrm>
          <a:prstGeom prst="rect">
            <a:avLst/>
          </a:prstGeom>
          <a:solidFill>
            <a:srgbClr val="1416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190625" y="857250"/>
            <a:ext cx="9525" cy="342900"/>
          </a:xfrm>
          <a:prstGeom prst="rect">
            <a:avLst/>
          </a:prstGeom>
          <a:solidFill>
            <a:srgbClr val="1416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352550" y="866775"/>
            <a:ext cx="9525" cy="323850"/>
          </a:xfrm>
          <a:prstGeom prst="rect">
            <a:avLst/>
          </a:prstGeom>
          <a:solidFill>
            <a:srgbClr val="DDDF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857250" y="10109448"/>
            <a:ext cx="7000875" cy="9525"/>
          </a:xfrm>
          <a:prstGeom prst="rect">
            <a:avLst/>
          </a:prstGeom>
          <a:solidFill>
            <a:srgbClr val="DDDF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857250" y="10842873"/>
            <a:ext cx="7000875" cy="9525"/>
          </a:xfrm>
          <a:prstGeom prst="rect">
            <a:avLst/>
          </a:prstGeom>
          <a:solidFill>
            <a:srgbClr val="DDDF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57250" y="11576298"/>
            <a:ext cx="7000875" cy="9525"/>
          </a:xfrm>
          <a:prstGeom prst="rect">
            <a:avLst/>
          </a:prstGeom>
          <a:solidFill>
            <a:srgbClr val="DDDF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334375" y="10109448"/>
            <a:ext cx="7000875" cy="9525"/>
          </a:xfrm>
          <a:prstGeom prst="rect">
            <a:avLst/>
          </a:prstGeom>
          <a:solidFill>
            <a:srgbClr val="DDDF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8334375" y="10842873"/>
            <a:ext cx="7000875" cy="9525"/>
          </a:xfrm>
          <a:prstGeom prst="rect">
            <a:avLst/>
          </a:prstGeom>
          <a:solidFill>
            <a:srgbClr val="DDDF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8334375" y="11576298"/>
            <a:ext cx="7000875" cy="9525"/>
          </a:xfrm>
          <a:prstGeom prst="rect">
            <a:avLst/>
          </a:prstGeom>
          <a:solidFill>
            <a:srgbClr val="DDDF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57250" y="19764375"/>
            <a:ext cx="14478000" cy="9525"/>
          </a:xfrm>
          <a:prstGeom prst="rect">
            <a:avLst/>
          </a:prstGeom>
          <a:solidFill>
            <a:srgbClr val="DDDF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33301" y="966788"/>
            <a:ext cx="686276" cy="123825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l">
              <a:lnSpc>
                <a:spcPct val="100000"/>
              </a:lnSpc>
            </a:pPr>
            <a:r>
              <a:rPr sz="975" i="0" b="1" spc="19">
                <a:solidFill>
                  <a:srgbClr val="14161A"/>
                </a:solidFill>
                <a:latin typeface="Space Grotesk"/>
                <a:ea typeface="Space Grotesk"/>
                <a:cs typeface="Space Grotesk"/>
              </a:rPr>
              <a:t>NO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514475" y="933450"/>
            <a:ext cx="2226469" cy="190500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l">
              <a:lnSpc>
                <a:spcPct val="100000"/>
              </a:lnSpc>
            </a:pPr>
            <a:r>
              <a:rPr sz="1500" i="0" b="1" spc="30">
                <a:solidFill>
                  <a:srgbClr val="14161A"/>
                </a:solidFill>
                <a:latin typeface="Space Grotesk"/>
                <a:ea typeface="Space Grotesk"/>
                <a:cs typeface="Space Grotesk"/>
              </a:rPr>
              <a:t>North &amp; Oak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209836" y="966788"/>
            <a:ext cx="3781663" cy="123825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l"/>
            <a:r>
              <a:rPr sz="825" i="0" b="0" spc="264">
                <a:solidFill>
                  <a:srgbClr val="2D5BE3"/>
                </a:solidFill>
                <a:latin typeface="Space Mono"/>
                <a:ea typeface="Space Mono"/>
                <a:cs typeface="Space Mono"/>
              </a:rPr>
              <a:t>PROPERTY FEATURE SHEET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57250" y="1762125"/>
            <a:ext cx="23545800" cy="123825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l"/>
            <a:r>
              <a:rPr sz="825" i="0" b="0" spc="264">
                <a:solidFill>
                  <a:srgbClr val="8A8F99"/>
                </a:solidFill>
                <a:latin typeface="Space Mono"/>
                <a:ea typeface="Space Mono"/>
                <a:cs typeface="Space Mono"/>
              </a:rPr>
              <a:t>JUST LISTED · RIVER NORTH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57250" y="2019300"/>
            <a:ext cx="23545800" cy="946398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l">
              <a:lnSpc>
                <a:spcPct val="92000"/>
              </a:lnSpc>
            </a:pPr>
            <a:r>
              <a:rPr sz="8100" i="0" b="1" spc="-324">
                <a:solidFill>
                  <a:srgbClr val="14161A"/>
                </a:solidFill>
                <a:latin typeface="Space Grotesk"/>
                <a:ea typeface="Space Grotesk"/>
                <a:cs typeface="Space Grotesk"/>
              </a:rPr>
              <a:t>1200 N Wells, 14C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57250" y="3099048"/>
            <a:ext cx="3686413" cy="571500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l"/>
            <a:r>
              <a:rPr sz="3900" i="0" b="1">
                <a:solidFill>
                  <a:srgbClr val="2D5BE3"/>
                </a:solidFill>
                <a:latin typeface="Space Grotesk"/>
                <a:ea typeface="Space Grotesk"/>
                <a:cs typeface="Space Grotesk"/>
              </a:rPr>
              <a:t>$895,000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208883" y="3403848"/>
            <a:ext cx="4253627" cy="200025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l"/>
            <a:r>
              <a:rPr sz="1350" i="0" b="0">
                <a:solidFill>
                  <a:srgbClr val="8A8F99"/>
                </a:solidFill>
                <a:latin typeface="Space Grotesk"/>
                <a:ea typeface="Space Grotesk"/>
                <a:cs typeface="Space Grotesk"/>
              </a:rPr>
              <a:t>2 BD · 2 BA · 1,480 SF · 14th flr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57250" y="9537948"/>
            <a:ext cx="754142" cy="230386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l">
              <a:lnSpc>
                <a:spcPct val="110000"/>
              </a:lnSpc>
            </a:pPr>
            <a:r>
              <a:rPr sz="1650" i="0" b="1">
                <a:solidFill>
                  <a:srgbClr val="2D5BE3"/>
                </a:solidFill>
                <a:latin typeface="Space Grotesk"/>
                <a:ea typeface="Space Grotesk"/>
                <a:cs typeface="Space Grotesk"/>
              </a:rPr>
              <a:t>01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261914" y="9537948"/>
            <a:ext cx="5280898" cy="219075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l"/>
            <a:r>
              <a:rPr sz="1500" i="0" b="1">
                <a:solidFill>
                  <a:srgbClr val="14161A"/>
                </a:solidFill>
                <a:latin typeface="Space Grotesk"/>
                <a:ea typeface="Space Grotesk"/>
                <a:cs typeface="Space Grotesk"/>
              </a:rPr>
              <a:t>Chef’s kitchen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261914" y="9785598"/>
            <a:ext cx="5280898" cy="171450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l">
              <a:lnSpc>
                <a:spcPct val="150000"/>
              </a:lnSpc>
            </a:pPr>
            <a:r>
              <a:rPr sz="900" i="0" b="0">
                <a:solidFill>
                  <a:srgbClr val="8A8F99"/>
                </a:solidFill>
                <a:latin typeface="Space Grotesk"/>
                <a:ea typeface="Space Grotesk"/>
                <a:cs typeface="Space Grotesk"/>
              </a:rPr>
              <a:t>Quartz waterfall island, Bosch appliances, integrated panels.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57250" y="10271373"/>
            <a:ext cx="754142" cy="230386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l">
              <a:lnSpc>
                <a:spcPct val="110000"/>
              </a:lnSpc>
            </a:pPr>
            <a:r>
              <a:rPr sz="1650" i="0" b="1">
                <a:solidFill>
                  <a:srgbClr val="2D5BE3"/>
                </a:solidFill>
                <a:latin typeface="Space Grotesk"/>
                <a:ea typeface="Space Grotesk"/>
                <a:cs typeface="Space Grotesk"/>
              </a:rPr>
              <a:t>02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261914" y="10271373"/>
            <a:ext cx="4620578" cy="219075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l"/>
            <a:r>
              <a:rPr sz="1500" i="0" b="1">
                <a:solidFill>
                  <a:srgbClr val="14161A"/>
                </a:solidFill>
                <a:latin typeface="Space Grotesk"/>
                <a:ea typeface="Space Grotesk"/>
                <a:cs typeface="Space Grotesk"/>
              </a:rPr>
              <a:t>Primary suite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61914" y="10519023"/>
            <a:ext cx="4620578" cy="171450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l">
              <a:lnSpc>
                <a:spcPct val="150000"/>
              </a:lnSpc>
            </a:pPr>
            <a:r>
              <a:rPr sz="900" i="0" b="0">
                <a:solidFill>
                  <a:srgbClr val="8A8F99"/>
                </a:solidFill>
                <a:latin typeface="Space Grotesk"/>
                <a:ea typeface="Space Grotesk"/>
                <a:cs typeface="Space Grotesk"/>
              </a:rPr>
              <a:t>Spa bath, soaking tub, dual vanities, skyline outlook.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57250" y="11004798"/>
            <a:ext cx="754142" cy="230386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l">
              <a:lnSpc>
                <a:spcPct val="110000"/>
              </a:lnSpc>
            </a:pPr>
            <a:r>
              <a:rPr sz="1650" i="0" b="1">
                <a:solidFill>
                  <a:srgbClr val="2D5BE3"/>
                </a:solidFill>
                <a:latin typeface="Space Grotesk"/>
                <a:ea typeface="Space Grotesk"/>
                <a:cs typeface="Space Grotesk"/>
              </a:rPr>
              <a:t>03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261914" y="11004798"/>
            <a:ext cx="3268028" cy="219075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l"/>
            <a:r>
              <a:rPr sz="1500" i="0" b="1">
                <a:solidFill>
                  <a:srgbClr val="14161A"/>
                </a:solidFill>
                <a:latin typeface="Space Grotesk"/>
                <a:ea typeface="Space Grotesk"/>
                <a:cs typeface="Space Grotesk"/>
              </a:rPr>
              <a:t>Outdoor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261914" y="11252448"/>
            <a:ext cx="3268028" cy="171450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l">
              <a:lnSpc>
                <a:spcPct val="150000"/>
              </a:lnSpc>
            </a:pPr>
            <a:r>
              <a:rPr sz="900" i="0" b="0">
                <a:solidFill>
                  <a:srgbClr val="8A8F99"/>
                </a:solidFill>
                <a:latin typeface="Space Grotesk"/>
                <a:ea typeface="Space Grotesk"/>
                <a:cs typeface="Space Grotesk"/>
              </a:rPr>
              <a:t>Private balcony and skyline terrace.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334375" y="9537948"/>
            <a:ext cx="754142" cy="230386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l">
              <a:lnSpc>
                <a:spcPct val="110000"/>
              </a:lnSpc>
            </a:pPr>
            <a:r>
              <a:rPr sz="1650" i="0" b="1">
                <a:solidFill>
                  <a:srgbClr val="2D5BE3"/>
                </a:solidFill>
                <a:latin typeface="Space Grotesk"/>
                <a:ea typeface="Space Grotesk"/>
                <a:cs typeface="Space Grotesk"/>
              </a:rPr>
              <a:t>04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739039" y="9537948"/>
            <a:ext cx="4487942" cy="219075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l"/>
            <a:r>
              <a:rPr sz="1500" i="0" b="1">
                <a:solidFill>
                  <a:srgbClr val="14161A"/>
                </a:solidFill>
                <a:latin typeface="Space Grotesk"/>
                <a:ea typeface="Space Grotesk"/>
                <a:cs typeface="Space Grotesk"/>
              </a:rPr>
              <a:t>Smart systems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739039" y="9785598"/>
            <a:ext cx="4487942" cy="171450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l">
              <a:lnSpc>
                <a:spcPct val="150000"/>
              </a:lnSpc>
            </a:pPr>
            <a:r>
              <a:rPr sz="900" i="0" b="0">
                <a:solidFill>
                  <a:srgbClr val="8A8F99"/>
                </a:solidFill>
                <a:latin typeface="Space Grotesk"/>
                <a:ea typeface="Space Grotesk"/>
                <a:cs typeface="Space Grotesk"/>
              </a:rPr>
              <a:t>Smart-home automation, integrated audio, climate.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334375" y="10271373"/>
            <a:ext cx="754142" cy="230386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l">
              <a:lnSpc>
                <a:spcPct val="110000"/>
              </a:lnSpc>
            </a:pPr>
            <a:r>
              <a:rPr sz="1650" i="0" b="1">
                <a:solidFill>
                  <a:srgbClr val="2D5BE3"/>
                </a:solidFill>
                <a:latin typeface="Space Grotesk"/>
                <a:ea typeface="Space Grotesk"/>
                <a:cs typeface="Space Grotesk"/>
              </a:rPr>
              <a:t>05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739039" y="10271373"/>
            <a:ext cx="3379708" cy="219075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l"/>
            <a:r>
              <a:rPr sz="1500" i="0" b="1">
                <a:solidFill>
                  <a:srgbClr val="14161A"/>
                </a:solidFill>
                <a:latin typeface="Space Grotesk"/>
                <a:ea typeface="Space Grotesk"/>
                <a:cs typeface="Space Grotesk"/>
              </a:rPr>
              <a:t>Skyline views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739039" y="10519023"/>
            <a:ext cx="3379708" cy="171450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l">
              <a:lnSpc>
                <a:spcPct val="150000"/>
              </a:lnSpc>
            </a:pPr>
            <a:r>
              <a:rPr sz="900" i="0" b="0">
                <a:solidFill>
                  <a:srgbClr val="8A8F99"/>
                </a:solidFill>
                <a:latin typeface="Space Grotesk"/>
                <a:ea typeface="Space Grotesk"/>
                <a:cs typeface="Space Grotesk"/>
              </a:rPr>
              <a:t>Floor-to-ceiling glazing onto the river.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334375" y="11004798"/>
            <a:ext cx="754142" cy="230386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l">
              <a:lnSpc>
                <a:spcPct val="110000"/>
              </a:lnSpc>
            </a:pPr>
            <a:r>
              <a:rPr sz="1650" i="0" b="1">
                <a:solidFill>
                  <a:srgbClr val="2D5BE3"/>
                </a:solidFill>
                <a:latin typeface="Space Grotesk"/>
                <a:ea typeface="Space Grotesk"/>
                <a:cs typeface="Space Grotesk"/>
              </a:rPr>
              <a:t>06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739039" y="11004798"/>
            <a:ext cx="4244340" cy="219075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l"/>
            <a:r>
              <a:rPr sz="1500" i="0" b="1">
                <a:solidFill>
                  <a:srgbClr val="14161A"/>
                </a:solidFill>
                <a:latin typeface="Space Grotesk"/>
                <a:ea typeface="Space Grotesk"/>
                <a:cs typeface="Space Grotesk"/>
              </a:rPr>
              <a:t>Building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739039" y="11252448"/>
            <a:ext cx="4244340" cy="171450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l">
              <a:lnSpc>
                <a:spcPct val="150000"/>
              </a:lnSpc>
            </a:pPr>
            <a:r>
              <a:rPr sz="900" i="0" b="0">
                <a:solidFill>
                  <a:srgbClr val="8A8F99"/>
                </a:solidFill>
                <a:latin typeface="Space Grotesk"/>
                <a:ea typeface="Space Grotesk"/>
                <a:cs typeface="Space Grotesk"/>
              </a:rPr>
              <a:t>Heated garage space, storage cage, bike room.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57250" y="19964400"/>
            <a:ext cx="3332083" cy="133350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l"/>
            <a:r>
              <a:rPr sz="750" i="0" b="0" spc="240">
                <a:solidFill>
                  <a:srgbClr val="8A8F99"/>
                </a:solidFill>
                <a:latin typeface="Space Mono"/>
                <a:ea typeface="Space Mono"/>
                <a:cs typeface="Space Mono"/>
              </a:rPr>
              <a:t>NORTH &amp; OAK · VOL. 01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926616" y="19964400"/>
            <a:ext cx="4234815" cy="133350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l"/>
            <a:r>
              <a:rPr sz="900" i="0" b="0">
                <a:solidFill>
                  <a:srgbClr val="14161A"/>
                </a:solidFill>
                <a:latin typeface="Space Mono"/>
                <a:ea typeface="Space Mono"/>
                <a:cs typeface="Space Mono"/>
              </a:rPr>
              <a:t>312 · 555 · 0148  ·  northandoak.co</a:t>
            </a:r>
          </a:p>
        </p:txBody>
      </p:sp>
      <p:pic>
        <p:nvPicPr>
          <p:cNvPr id="43" name="Picture 42" descr="metro-x04-feature-sheet_4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7250" y="4051548"/>
            <a:ext cx="6090642" cy="4953000"/>
          </a:xfrm>
          <a:prstGeom prst="rect">
            <a:avLst/>
          </a:prstGeom>
        </p:spPr>
      </p:pic>
      <p:pic>
        <p:nvPicPr>
          <p:cNvPr id="44" name="Picture 43" descr="metro-x04-feature-sheet_4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81242" y="4051548"/>
            <a:ext cx="4060329" cy="2409825"/>
          </a:xfrm>
          <a:prstGeom prst="rect">
            <a:avLst/>
          </a:prstGeom>
        </p:spPr>
      </p:pic>
      <p:pic>
        <p:nvPicPr>
          <p:cNvPr id="45" name="Picture 44" descr="metro-x04-feature-sheet_42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081242" y="6594723"/>
            <a:ext cx="4060329" cy="2409825"/>
          </a:xfrm>
          <a:prstGeom prst="rect">
            <a:avLst/>
          </a:prstGeom>
        </p:spPr>
      </p:pic>
      <p:pic>
        <p:nvPicPr>
          <p:cNvPr id="46" name="Picture 45" descr="metro-x04-feature-sheet_43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274921" y="4051548"/>
            <a:ext cx="4060329" cy="2409825"/>
          </a:xfrm>
          <a:prstGeom prst="rect">
            <a:avLst/>
          </a:prstGeom>
        </p:spPr>
      </p:pic>
      <p:pic>
        <p:nvPicPr>
          <p:cNvPr id="47" name="Picture 46" descr="metro-x04-feature-sheet_44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1274921" y="6594723"/>
            <a:ext cx="4060329" cy="2409825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