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7772400" cy="100584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772400" cy="10058400"/>
          </a:xfrm>
          <a:prstGeom prst="rect">
            <a:avLst/>
          </a:prstGeom>
          <a:solidFill>
            <a:srgbClr val="F3EE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77240" y="393192"/>
            <a:ext cx="2286" cy="182880"/>
          </a:xfrm>
          <a:prstGeom prst="rect">
            <a:avLst/>
          </a:prstGeom>
          <a:solidFill>
            <a:srgbClr val="332C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57200" y="946404"/>
            <a:ext cx="1238155" cy="201168"/>
          </a:xfrm>
          <a:prstGeom prst="rect">
            <a:avLst/>
          </a:prstGeom>
          <a:solidFill>
            <a:srgbClr val="A98B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60300" y="1024358"/>
            <a:ext cx="45261" cy="45261"/>
          </a:xfrm>
          <a:prstGeom prst="rect">
            <a:avLst/>
          </a:prstGeom>
          <a:solidFill>
            <a:srgbClr val="332C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6" name="Connector 5"/>
          <p:cNvCxnSpPr/>
          <p:nvPr/>
        </p:nvCxnSpPr>
        <p:spPr>
          <a:xfrm>
            <a:off x="457200" y="717804"/>
            <a:ext cx="6858000" cy="0"/>
          </a:xfrm>
          <a:prstGeom prst="line">
            <a:avLst/>
          </a:prstGeom>
          <a:ln w="6350">
            <a:solidFill>
              <a:srgbClr val="BEB7B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Rectangle 6"/>
          <p:cNvSpPr/>
          <p:nvPr/>
        </p:nvSpPr>
        <p:spPr>
          <a:xfrm>
            <a:off x="457200" y="365760"/>
            <a:ext cx="237744" cy="237744"/>
          </a:xfrm>
          <a:prstGeom prst="rect">
            <a:avLst/>
          </a:prstGeom>
          <a:noFill/>
          <a:ln w="6350">
            <a:solidFill>
              <a:srgbClr val="332C4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57200" y="2223492"/>
            <a:ext cx="164592" cy="164592"/>
          </a:xfrm>
          <a:prstGeom prst="rect">
            <a:avLst/>
          </a:prstGeom>
          <a:noFill/>
          <a:ln w="6350">
            <a:solidFill>
              <a:srgbClr val="A98B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014216" y="2223492"/>
            <a:ext cx="164592" cy="164592"/>
          </a:xfrm>
          <a:prstGeom prst="rect">
            <a:avLst/>
          </a:prstGeom>
          <a:noFill/>
          <a:ln w="6350">
            <a:solidFill>
              <a:srgbClr val="A98B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57200" y="2532531"/>
            <a:ext cx="164592" cy="164592"/>
          </a:xfrm>
          <a:prstGeom prst="rect">
            <a:avLst/>
          </a:prstGeom>
          <a:noFill/>
          <a:ln w="6350">
            <a:solidFill>
              <a:srgbClr val="A98B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014216" y="2532531"/>
            <a:ext cx="164592" cy="164592"/>
          </a:xfrm>
          <a:prstGeom prst="rect">
            <a:avLst/>
          </a:prstGeom>
          <a:noFill/>
          <a:ln w="6350">
            <a:solidFill>
              <a:srgbClr val="A98B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57200" y="2841569"/>
            <a:ext cx="164592" cy="164592"/>
          </a:xfrm>
          <a:prstGeom prst="rect">
            <a:avLst/>
          </a:prstGeom>
          <a:noFill/>
          <a:ln w="6350">
            <a:solidFill>
              <a:srgbClr val="A98B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014216" y="2841569"/>
            <a:ext cx="164592" cy="164592"/>
          </a:xfrm>
          <a:prstGeom prst="rect">
            <a:avLst/>
          </a:prstGeom>
          <a:noFill/>
          <a:ln w="6350">
            <a:solidFill>
              <a:srgbClr val="A98B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57200" y="3150608"/>
            <a:ext cx="164592" cy="164592"/>
          </a:xfrm>
          <a:prstGeom prst="rect">
            <a:avLst/>
          </a:prstGeom>
          <a:noFill/>
          <a:ln w="6350">
            <a:solidFill>
              <a:srgbClr val="A98B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014216" y="3150608"/>
            <a:ext cx="164592" cy="164592"/>
          </a:xfrm>
          <a:prstGeom prst="rect">
            <a:avLst/>
          </a:prstGeom>
          <a:noFill/>
          <a:ln w="6350">
            <a:solidFill>
              <a:srgbClr val="A98B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57200" y="3459647"/>
            <a:ext cx="164592" cy="164592"/>
          </a:xfrm>
          <a:prstGeom prst="rect">
            <a:avLst/>
          </a:prstGeom>
          <a:noFill/>
          <a:ln w="6350">
            <a:solidFill>
              <a:srgbClr val="A98B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014216" y="3459647"/>
            <a:ext cx="164592" cy="164592"/>
          </a:xfrm>
          <a:prstGeom prst="rect">
            <a:avLst/>
          </a:prstGeom>
          <a:noFill/>
          <a:ln w="6350">
            <a:solidFill>
              <a:srgbClr val="A98B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8" name="Connector 17"/>
          <p:cNvCxnSpPr/>
          <p:nvPr/>
        </p:nvCxnSpPr>
        <p:spPr>
          <a:xfrm>
            <a:off x="457200" y="9582912"/>
            <a:ext cx="6858000" cy="0"/>
          </a:xfrm>
          <a:prstGeom prst="line">
            <a:avLst/>
          </a:prstGeom>
          <a:ln w="6350">
            <a:solidFill>
              <a:srgbClr val="BEB7B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457200" y="365760"/>
            <a:ext cx="237744" cy="237744"/>
          </a:xfrm>
          <a:prstGeom prst="rect">
            <a:avLst/>
          </a:prstGeom>
          <a:noFill/>
        </p:spPr>
        <p:txBody>
          <a:bodyPr wrap="none" lIns="0" rIns="0" tIns="0" bIns="0" anchor="ctr"/>
          <a:lstStyle/>
          <a:p>
            <a:pPr algn="ctr"/>
            <a:r>
              <a:rPr sz="786" b="0" i="1" spc="31">
                <a:solidFill>
                  <a:srgbClr val="332C46"/>
                </a:solidFill>
                <a:latin typeface="Newsreader"/>
                <a:ea typeface="Newsreader"/>
                <a:cs typeface="Newsreader"/>
              </a:rPr>
              <a:t>MV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61822" y="425196"/>
            <a:ext cx="1684496" cy="128016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/>
            <a:r>
              <a:rPr sz="792" b="0" i="1" spc="3">
                <a:solidFill>
                  <a:srgbClr val="332C46"/>
                </a:solidFill>
                <a:latin typeface="Newsreader"/>
                <a:ea typeface="Newsreader"/>
                <a:cs typeface="Newsreader"/>
              </a:rPr>
              <a:t>Marisol Vance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026396" y="450342"/>
            <a:ext cx="2386084" cy="77724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00000"/>
              </a:lnSpc>
            </a:pPr>
            <a:r>
              <a:rPr sz="400" b="1" i="0" spc="142">
                <a:solidFill>
                  <a:srgbClr val="A98BA6"/>
                </a:solidFill>
                <a:latin typeface="Hanken Grotesk"/>
                <a:ea typeface="Hanken Grotesk"/>
                <a:cs typeface="Hanken Grotesk"/>
              </a:rPr>
              <a:t>CHECKLIST 06 · SELLER ESCROW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60424" y="946404"/>
            <a:ext cx="2132210" cy="201168"/>
          </a:xfrm>
          <a:prstGeom prst="rect">
            <a:avLst/>
          </a:prstGeom>
          <a:noFill/>
        </p:spPr>
        <p:txBody>
          <a:bodyPr wrap="none" lIns="0" rIns="0" tIns="0" bIns="0" anchor="ctr"/>
          <a:lstStyle/>
          <a:p>
            <a:pPr algn="l"/>
            <a:r>
              <a:rPr sz="540" b="1" i="0" spc="151">
                <a:solidFill>
                  <a:srgbClr val="332C46"/>
                </a:solidFill>
                <a:latin typeface="Hanken Grotesk"/>
                <a:ea typeface="Hanken Grotesk"/>
                <a:cs typeface="Hanken Grotesk"/>
              </a:rPr>
              <a:t>AGENT WORKFLOW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7200" y="1257300"/>
            <a:ext cx="7955280" cy="456414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02000"/>
              </a:lnSpc>
            </a:pPr>
            <a:r>
              <a:rPr sz="3311" b="0" i="1" spc="-66">
                <a:solidFill>
                  <a:srgbClr val="332C46"/>
                </a:solidFill>
                <a:latin typeface="Newsreader"/>
                <a:ea typeface="Newsreader"/>
                <a:cs typeface="Newsreader"/>
              </a:rPr>
              <a:t>Seller Under-Contract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7200" y="1759434"/>
            <a:ext cx="6355080" cy="198882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50000"/>
              </a:lnSpc>
            </a:pPr>
            <a:r>
              <a:rPr sz="900" b="0" i="0">
                <a:solidFill>
                  <a:srgbClr val="8A8090"/>
                </a:solidFill>
                <a:latin typeface="Hanken Grotesk"/>
                <a:ea typeface="Hanken Grotesk"/>
                <a:cs typeface="Hanken Grotesk"/>
              </a:rPr>
              <a:t>Coordinate the seller side from executed contract to closing table.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22376" y="2205204"/>
            <a:ext cx="4133088" cy="217599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30000"/>
              </a:lnSpc>
            </a:pPr>
            <a:r>
              <a:rPr sz="1152" b="0" i="0">
                <a:solidFill>
                  <a:srgbClr val="3E3656"/>
                </a:solidFill>
                <a:latin typeface="Hanken Grotesk"/>
                <a:ea typeface="Hanken Grotesk"/>
                <a:cs typeface="Hanken Grotesk"/>
              </a:rPr>
              <a:t>Executed contract to title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279392" y="2205204"/>
            <a:ext cx="4133088" cy="217599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30000"/>
              </a:lnSpc>
            </a:pPr>
            <a:r>
              <a:rPr sz="1152" b="0" i="0">
                <a:solidFill>
                  <a:srgbClr val="3E3656"/>
                </a:solidFill>
                <a:latin typeface="Hanken Grotesk"/>
                <a:ea typeface="Hanken Grotesk"/>
                <a:cs typeface="Hanken Grotesk"/>
              </a:rPr>
              <a:t>Confirm earnest money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22376" y="2514243"/>
            <a:ext cx="4133088" cy="217599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30000"/>
              </a:lnSpc>
            </a:pPr>
            <a:r>
              <a:rPr sz="1152" b="0" i="0">
                <a:solidFill>
                  <a:srgbClr val="3E3656"/>
                </a:solidFill>
                <a:latin typeface="Hanken Grotesk"/>
                <a:ea typeface="Hanken Grotesk"/>
                <a:cs typeface="Hanken Grotesk"/>
              </a:rPr>
              <a:t>Schedule inspection access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279392" y="2514243"/>
            <a:ext cx="4133088" cy="217599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30000"/>
              </a:lnSpc>
            </a:pPr>
            <a:r>
              <a:rPr sz="1152" b="0" i="0">
                <a:solidFill>
                  <a:srgbClr val="3E3656"/>
                </a:solidFill>
                <a:latin typeface="Hanken Grotesk"/>
                <a:ea typeface="Hanken Grotesk"/>
                <a:cs typeface="Hanken Grotesk"/>
              </a:rPr>
              <a:t>Respond to repair requests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22376" y="2823281"/>
            <a:ext cx="4133088" cy="217599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30000"/>
              </a:lnSpc>
            </a:pPr>
            <a:r>
              <a:rPr sz="1152" b="0" i="0">
                <a:solidFill>
                  <a:srgbClr val="3E3656"/>
                </a:solidFill>
                <a:latin typeface="Hanken Grotesk"/>
                <a:ea typeface="Hanken Grotesk"/>
                <a:cs typeface="Hanken Grotesk"/>
              </a:rPr>
              <a:t>Coordinate appraisal access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279392" y="2823281"/>
            <a:ext cx="4133088" cy="217599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30000"/>
              </a:lnSpc>
            </a:pPr>
            <a:r>
              <a:rPr sz="1152" b="0" i="0">
                <a:solidFill>
                  <a:srgbClr val="3E3656"/>
                </a:solidFill>
                <a:latin typeface="Hanken Grotesk"/>
                <a:ea typeface="Hanken Grotesk"/>
                <a:cs typeface="Hanken Grotesk"/>
              </a:rPr>
              <a:t>Track loan milestones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22376" y="3132320"/>
            <a:ext cx="4133088" cy="217599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30000"/>
              </a:lnSpc>
            </a:pPr>
            <a:r>
              <a:rPr sz="1152" b="0" i="0">
                <a:solidFill>
                  <a:srgbClr val="3E3656"/>
                </a:solidFill>
                <a:latin typeface="Hanken Grotesk"/>
                <a:ea typeface="Hanken Grotesk"/>
                <a:cs typeface="Hanken Grotesk"/>
              </a:rPr>
              <a:t>Order payoff statement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279392" y="3132320"/>
            <a:ext cx="4133088" cy="217599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30000"/>
              </a:lnSpc>
            </a:pPr>
            <a:r>
              <a:rPr sz="1152" b="0" i="0">
                <a:solidFill>
                  <a:srgbClr val="3E3656"/>
                </a:solidFill>
                <a:latin typeface="Hanken Grotesk"/>
                <a:ea typeface="Hanken Grotesk"/>
                <a:cs typeface="Hanken Grotesk"/>
              </a:rPr>
              <a:t>Gather warranties &amp; manuals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22376" y="3441359"/>
            <a:ext cx="4133088" cy="217599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30000"/>
              </a:lnSpc>
            </a:pPr>
            <a:r>
              <a:rPr sz="1152" b="0" i="0">
                <a:solidFill>
                  <a:srgbClr val="3E3656"/>
                </a:solidFill>
                <a:latin typeface="Hanken Grotesk"/>
                <a:ea typeface="Hanken Grotesk"/>
                <a:cs typeface="Hanken Grotesk"/>
              </a:rPr>
              <a:t>Schedule utilities transfer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279392" y="3441359"/>
            <a:ext cx="4133088" cy="217599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30000"/>
              </a:lnSpc>
            </a:pPr>
            <a:r>
              <a:rPr sz="1152" b="0" i="0">
                <a:solidFill>
                  <a:srgbClr val="3E3656"/>
                </a:solidFill>
                <a:latin typeface="Hanken Grotesk"/>
                <a:ea typeface="Hanken Grotesk"/>
                <a:cs typeface="Hanken Grotesk"/>
              </a:rPr>
              <a:t>Confirm closing date &amp; location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57200" y="9678924"/>
            <a:ext cx="2421374" cy="77724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00000"/>
              </a:lnSpc>
            </a:pPr>
            <a:r>
              <a:rPr sz="400" b="0" i="0" spc="126">
                <a:solidFill>
                  <a:srgbClr val="8A8090"/>
                </a:solidFill>
                <a:latin typeface="Hanken Grotesk"/>
                <a:ea typeface="Hanken Grotesk"/>
                <a:cs typeface="Hanken Grotesk"/>
              </a:rPr>
              <a:t>THE REAL ESTATE CHECKLIST PACK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545604" y="9669780"/>
            <a:ext cx="1866876" cy="91440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00000"/>
              </a:lnSpc>
            </a:pPr>
            <a:r>
              <a:rPr sz="400" b="1" i="0" spc="126">
                <a:solidFill>
                  <a:srgbClr val="A98BA6"/>
                </a:solidFill>
                <a:latin typeface="Hanken Grotesk"/>
                <a:ea typeface="Hanken Grotesk"/>
                <a:cs typeface="Hanken Grotesk"/>
              </a:rPr>
              <a:t>MARISOLVANCE.COM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