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6192500" cy="2095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192500" cy="20955000"/>
          </a:xfrm>
          <a:prstGeom prst="rect">
            <a:avLst/>
          </a:prstGeom>
          <a:solidFill>
            <a:srgbClr val="F3E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2500" y="1447800"/>
            <a:ext cx="14287500" cy="9525"/>
          </a:xfrm>
          <a:prstGeom prst="rect">
            <a:avLst/>
          </a:prstGeom>
          <a:solidFill>
            <a:srgbClr val="C3B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2500" y="762000"/>
            <a:ext cx="4572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52500" y="1209675"/>
            <a:ext cx="457200" cy="9525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52500" y="762000"/>
            <a:ext cx="9525" cy="4572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400175" y="762000"/>
            <a:ext cx="9525" cy="457200"/>
          </a:xfrm>
          <a:prstGeom prst="rect">
            <a:avLst/>
          </a:prstGeom>
          <a:solidFill>
            <a:srgbClr val="332C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52500" y="19745325"/>
            <a:ext cx="14287500" cy="9525"/>
          </a:xfrm>
          <a:prstGeom prst="rect">
            <a:avLst/>
          </a:prstGeom>
          <a:solidFill>
            <a:srgbClr val="C3BE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9742" y="885825"/>
            <a:ext cx="865108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65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62100" y="847725"/>
            <a:ext cx="2681049" cy="2857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95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Marisol Vance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32097" y="923925"/>
            <a:ext cx="4393644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24">
                <a:solidFill>
                  <a:srgbClr val="A98BA6"/>
                </a:solidFill>
                <a:latin typeface="Hanken Grotesk"/>
                <a:ea typeface="Hanken Grotesk"/>
                <a:cs typeface="Hanken Grotesk"/>
              </a:rPr>
              <a:t>PROPERTY FEATURE SHEET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1704975"/>
            <a:ext cx="23241000" cy="1143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825" i="0" b="1" spc="214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JUST LISTED · SANTA LUCIA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1914525"/>
            <a:ext cx="11354514" cy="10572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200" i="1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17 Tidewater Lane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0" y="2266950"/>
            <a:ext cx="3810000" cy="5524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3750" i="0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$3,250,000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0" y="2819400"/>
            <a:ext cx="3810000" cy="15240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r"/>
            <a:r>
              <a:rPr sz="1050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4 BD · 3 BA · 3,140 SF · 0.42 ac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2500" y="10820400"/>
            <a:ext cx="685800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6350" y="10820400"/>
            <a:ext cx="2166938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Chef’s kitchen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4977" y="10887075"/>
            <a:ext cx="5067776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— Sea-salt oak island, Lacanche range, honed limestone.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0" y="10820400"/>
            <a:ext cx="685800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850" y="10820400"/>
            <a:ext cx="2015014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Primary suite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69525" y="10887075"/>
            <a:ext cx="4820602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— Spa bath, soaking tub, dual vanities, ocean balcony.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2500" y="11229975"/>
            <a:ext cx="685800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6350" y="11229975"/>
            <a:ext cx="1507093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Sun deck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22574" y="11296650"/>
            <a:ext cx="3807142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— Heated plunge, outdoor shower, fire pit.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2000" y="11229975"/>
            <a:ext cx="685800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05850" y="11229975"/>
            <a:ext cx="2150745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Smart systems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4357" y="11296650"/>
            <a:ext cx="3674745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— Automation, integrated audio, climate.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500" y="11639550"/>
            <a:ext cx="685800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76350" y="11639550"/>
            <a:ext cx="1946672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Ocean views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97311" y="11706225"/>
            <a:ext cx="3857625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— Floor-to-ceiling glazing onto open water.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82000" y="11639550"/>
            <a:ext cx="685800" cy="2190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1" b="0">
                <a:solidFill>
                  <a:srgbClr val="A98BA6"/>
                </a:solidFill>
                <a:latin typeface="Newsreader"/>
                <a:ea typeface="Newsreader"/>
                <a:cs typeface="Newsreader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850" y="11639550"/>
            <a:ext cx="1748552" cy="2095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500" i="0" b="0">
                <a:solidFill>
                  <a:srgbClr val="332C46"/>
                </a:solidFill>
                <a:latin typeface="Newsreader"/>
                <a:ea typeface="Newsreader"/>
                <a:cs typeface="Newsreader"/>
              </a:rPr>
              <a:t>Wine room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2986" y="11706225"/>
            <a:ext cx="3762613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0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— Climate-controlled, 460-bottle capacity.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2500" y="19745325"/>
            <a:ext cx="14287500" cy="35242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900" i="0" b="0" spc="144">
                <a:solidFill>
                  <a:srgbClr val="8A8090"/>
                </a:solidFill>
                <a:latin typeface="Hanken Grotesk"/>
                <a:ea typeface="Hanken Grotesk"/>
                <a:cs typeface="Hanken Grotesk"/>
              </a:rPr>
              <a:t>(805) 555-0188 · HELLO@MARISOLVANCE.COM · MARISOLVANCE.COM</a:t>
            </a:r>
          </a:p>
        </p:txBody>
      </p:sp>
      <p:pic>
        <p:nvPicPr>
          <p:cNvPr id="35" name="Picture 34" descr="coastal-32-feature-sheet_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3257550"/>
            <a:ext cx="6008787" cy="7239000"/>
          </a:xfrm>
          <a:prstGeom prst="rect">
            <a:avLst/>
          </a:prstGeom>
        </p:spPr>
      </p:pic>
      <p:pic>
        <p:nvPicPr>
          <p:cNvPr id="36" name="Picture 35" descr="coastal-32-feature-sheet_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4637" y="3257550"/>
            <a:ext cx="4006007" cy="3552825"/>
          </a:xfrm>
          <a:prstGeom prst="rect">
            <a:avLst/>
          </a:prstGeom>
        </p:spPr>
      </p:pic>
      <p:pic>
        <p:nvPicPr>
          <p:cNvPr id="37" name="Picture 36" descr="coastal-32-feature-sheet_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33993" y="3257550"/>
            <a:ext cx="4006007" cy="3552825"/>
          </a:xfrm>
          <a:prstGeom prst="rect">
            <a:avLst/>
          </a:prstGeom>
        </p:spPr>
      </p:pic>
      <p:pic>
        <p:nvPicPr>
          <p:cNvPr id="38" name="Picture 37" descr="coastal-32-feature-sheet_3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4637" y="6943725"/>
            <a:ext cx="4006007" cy="3552825"/>
          </a:xfrm>
          <a:prstGeom prst="rect">
            <a:avLst/>
          </a:prstGeom>
        </p:spPr>
      </p:pic>
      <p:pic>
        <p:nvPicPr>
          <p:cNvPr id="39" name="Picture 38" descr="coastal-32-feature-sheet_3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3993" y="6943725"/>
            <a:ext cx="4006007" cy="35528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