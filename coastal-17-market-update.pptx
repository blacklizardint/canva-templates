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762000"/>
            <a:ext cx="457200" cy="9525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1209675"/>
            <a:ext cx="457200" cy="9525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762000"/>
            <a:ext cx="9525" cy="4572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9675" y="762000"/>
            <a:ext cx="9525" cy="4572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6286500"/>
            <a:ext cx="8763000" cy="1428750"/>
          </a:xfrm>
          <a:prstGeom prst="rect">
            <a:avLst/>
          </a:prstGeom>
          <a:solidFill>
            <a:srgbClr val="FB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6286500"/>
            <a:ext cx="8763000" cy="9525"/>
          </a:xfrm>
          <a:prstGeom prst="rect">
            <a:avLst/>
          </a:prstGeom>
          <a:solidFill>
            <a:srgbClr val="D0C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7705725"/>
            <a:ext cx="8763000" cy="9525"/>
          </a:xfrm>
          <a:prstGeom prst="rect">
            <a:avLst/>
          </a:prstGeom>
          <a:solidFill>
            <a:srgbClr val="D0C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000" y="6286500"/>
            <a:ext cx="9525" cy="1428750"/>
          </a:xfrm>
          <a:prstGeom prst="rect">
            <a:avLst/>
          </a:prstGeom>
          <a:solidFill>
            <a:srgbClr val="D0C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15475" y="6286500"/>
            <a:ext cx="9525" cy="1428750"/>
          </a:xfrm>
          <a:prstGeom prst="rect">
            <a:avLst/>
          </a:prstGeom>
          <a:solidFill>
            <a:srgbClr val="D0C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2000" y="7924800"/>
            <a:ext cx="8763000" cy="1428750"/>
          </a:xfrm>
          <a:prstGeom prst="rect">
            <a:avLst/>
          </a:prstGeom>
          <a:solidFill>
            <a:srgbClr val="FB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2000" y="7924800"/>
            <a:ext cx="8763000" cy="9525"/>
          </a:xfrm>
          <a:prstGeom prst="rect">
            <a:avLst/>
          </a:prstGeom>
          <a:solidFill>
            <a:srgbClr val="D0C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2000" y="9344025"/>
            <a:ext cx="8763000" cy="9525"/>
          </a:xfrm>
          <a:prstGeom prst="rect">
            <a:avLst/>
          </a:prstGeom>
          <a:solidFill>
            <a:srgbClr val="D0C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2000" y="7924800"/>
            <a:ext cx="9525" cy="1428750"/>
          </a:xfrm>
          <a:prstGeom prst="rect">
            <a:avLst/>
          </a:prstGeom>
          <a:solidFill>
            <a:srgbClr val="D0C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515475" y="7924800"/>
            <a:ext cx="9525" cy="1428750"/>
          </a:xfrm>
          <a:prstGeom prst="rect">
            <a:avLst/>
          </a:prstGeom>
          <a:solidFill>
            <a:srgbClr val="D0C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2000" y="9563100"/>
            <a:ext cx="8763000" cy="1428750"/>
          </a:xfrm>
          <a:prstGeom prst="rect">
            <a:avLst/>
          </a:prstGeom>
          <a:solidFill>
            <a:srgbClr val="FB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2000" y="9563100"/>
            <a:ext cx="8763000" cy="9525"/>
          </a:xfrm>
          <a:prstGeom prst="rect">
            <a:avLst/>
          </a:prstGeom>
          <a:solidFill>
            <a:srgbClr val="D0C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2000" y="10982325"/>
            <a:ext cx="8763000" cy="9525"/>
          </a:xfrm>
          <a:prstGeom prst="rect">
            <a:avLst/>
          </a:prstGeom>
          <a:solidFill>
            <a:srgbClr val="D0C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2000" y="9563100"/>
            <a:ext cx="9525" cy="1428750"/>
          </a:xfrm>
          <a:prstGeom prst="rect">
            <a:avLst/>
          </a:prstGeom>
          <a:solidFill>
            <a:srgbClr val="D0C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15475" y="9563100"/>
            <a:ext cx="9525" cy="1428750"/>
          </a:xfrm>
          <a:prstGeom prst="rect">
            <a:avLst/>
          </a:prstGeom>
          <a:solidFill>
            <a:srgbClr val="D0C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2000" y="15840075"/>
            <a:ext cx="3503116" cy="9525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2000" y="16373475"/>
            <a:ext cx="3503116" cy="9525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2000" y="15840075"/>
            <a:ext cx="9525" cy="542925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55591" y="15840075"/>
            <a:ext cx="9525" cy="542925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41493" y="16057656"/>
            <a:ext cx="107763" cy="107763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242" y="885825"/>
            <a:ext cx="865108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65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6793" y="938212"/>
            <a:ext cx="3722132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40">
                <a:solidFill>
                  <a:srgbClr val="332C46"/>
                </a:solidFill>
                <a:latin typeface="Hanken Grotesk"/>
                <a:ea typeface="Hanken Grotesk"/>
                <a:cs typeface="Hanken Grotesk"/>
              </a:rPr>
              <a:t>STORY 17 · MARKET UPDATE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2190750"/>
            <a:ext cx="14401800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75" i="0" b="1" spc="351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THE MARKET · MAY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" y="2466975"/>
            <a:ext cx="6853238" cy="885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2000"/>
              </a:lnSpc>
            </a:pPr>
            <a:r>
              <a:rPr sz="630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Santa Lucia,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0" y="3283000"/>
            <a:ext cx="8593931" cy="885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2000"/>
              </a:lnSpc>
            </a:pPr>
            <a:r>
              <a:rPr sz="6300" i="0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by the numbers.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5375" y="6786562"/>
            <a:ext cx="2124313" cy="2571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800" i="1" b="0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5375" y="7100888"/>
            <a:ext cx="2124313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1" spc="214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MEDIAN PRICE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48814" y="6581775"/>
            <a:ext cx="3442811" cy="704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4800" i="0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$2.18M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48814" y="7286625"/>
            <a:ext cx="3442811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900" i="0" b="1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+ 4.2%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5375" y="8424862"/>
            <a:ext cx="2503408" cy="2571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800" i="1" b="0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5375" y="8739188"/>
            <a:ext cx="2503408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1" spc="214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DAYS ON MARKET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35265" y="8220075"/>
            <a:ext cx="1356360" cy="704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4800" i="0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35265" y="8924925"/>
            <a:ext cx="135636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900" i="0" b="1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− 6 days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5375" y="10063162"/>
            <a:ext cx="2469356" cy="2571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800" i="1" b="0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5375" y="10377488"/>
            <a:ext cx="2469356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1" spc="214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ACTIVE LISTINGS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47585" y="9858375"/>
            <a:ext cx="1844040" cy="704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4800" i="0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247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47585" y="10563225"/>
            <a:ext cx="184404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900" i="0" b="1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+ 12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66825" y="16035338"/>
            <a:ext cx="4294346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50" i="0" b="1" spc="231">
                <a:solidFill>
                  <a:srgbClr val="332C46"/>
                </a:solidFill>
                <a:latin typeface="Hanken Grotesk"/>
                <a:ea typeface="Hanken Grotesk"/>
                <a:cs typeface="Hanken Grotesk"/>
              </a:rPr>
              <a:t>FULL REPORT — TAP HERE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6016" y="16021050"/>
            <a:ext cx="579120" cy="1809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i="0" b="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-2057400" y="17306925"/>
            <a:ext cx="14401800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825" i="0" b="1" spc="264">
                <a:solidFill>
                  <a:srgbClr val="332C46"/>
                </a:solidFill>
                <a:latin typeface="Hanken Grotesk"/>
                <a:ea typeface="Hanken Grotesk"/>
                <a:cs typeface="Hanken Grotesk"/>
              </a:rPr>
              <a:t>@MARISOLVANCE  ◆  MARISOLVANCE.COM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