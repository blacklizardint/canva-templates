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828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8288000"/>
          </a:xfrm>
          <a:prstGeom prst="rect">
            <a:avLst/>
          </a:prstGeom>
          <a:solidFill>
            <a:srgbClr val="EDE7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57250" y="1724025"/>
            <a:ext cx="8572500" cy="9525"/>
          </a:xfrm>
          <a:prstGeom prst="rect">
            <a:avLst/>
          </a:prstGeom>
          <a:solidFill>
            <a:srgbClr val="BEC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57250" y="976312"/>
            <a:ext cx="381000" cy="381000"/>
          </a:xfrm>
          <a:prstGeom prst="ellipse">
            <a:avLst/>
          </a:prstGeom>
          <a:noFill/>
          <a:ln w="9525">
            <a:solidFill>
              <a:srgbClr val="97A9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507581" y="5486400"/>
            <a:ext cx="666750" cy="9525"/>
          </a:xfrm>
          <a:prstGeom prst="rect">
            <a:avLst/>
          </a:prstGeom>
          <a:solidFill>
            <a:srgbClr val="97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112520" y="5486400"/>
            <a:ext cx="666750" cy="9525"/>
          </a:xfrm>
          <a:prstGeom prst="rect">
            <a:avLst/>
          </a:prstGeom>
          <a:solidFill>
            <a:srgbClr val="97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344912" y="16011525"/>
            <a:ext cx="3597176" cy="9525"/>
          </a:xfrm>
          <a:prstGeom prst="rect">
            <a:avLst/>
          </a:prstGeom>
          <a:solidFill>
            <a:srgbClr val="97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344912" y="16859250"/>
            <a:ext cx="3597176" cy="9525"/>
          </a:xfrm>
          <a:prstGeom prst="rect">
            <a:avLst/>
          </a:prstGeom>
          <a:solidFill>
            <a:srgbClr val="97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344912" y="16011525"/>
            <a:ext cx="9525" cy="857250"/>
          </a:xfrm>
          <a:prstGeom prst="rect">
            <a:avLst/>
          </a:prstGeom>
          <a:solidFill>
            <a:srgbClr val="97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932563" y="16011525"/>
            <a:ext cx="9525" cy="857250"/>
          </a:xfrm>
          <a:prstGeom prst="rect">
            <a:avLst/>
          </a:prstGeom>
          <a:solidFill>
            <a:srgbClr val="97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2019" y="1076325"/>
            <a:ext cx="815340" cy="1809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1425" i="0" b="0">
                <a:solidFill>
                  <a:srgbClr val="97A98C"/>
                </a:solidFill>
                <a:latin typeface="Cormorant Garamond"/>
                <a:ea typeface="Cormorant Garamond"/>
                <a:cs typeface="Cormorant Garamond"/>
              </a:rPr>
              <a:t>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90650" y="857250"/>
            <a:ext cx="5962650" cy="2667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2100" i="0" b="0">
                <a:solidFill>
                  <a:srgbClr val="33322E"/>
                </a:solidFill>
                <a:latin typeface="Cormorant Garamond"/>
                <a:ea typeface="Cormorant Garamond"/>
                <a:cs typeface="Cormorant Garamond"/>
              </a:rPr>
              <a:t>Maya Ellison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90650" y="1200150"/>
            <a:ext cx="5962650" cy="2762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425" i="0" b="0" spc="313">
                <a:solidFill>
                  <a:srgbClr val="8A867E"/>
                </a:solidFill>
                <a:latin typeface="Poppins"/>
                <a:ea typeface="Poppins"/>
                <a:cs typeface="Poppins"/>
              </a:rPr>
              <a:t>REALTOR®  |  MODERN LIVING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07175" y="5334000"/>
            <a:ext cx="2872502" cy="3143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1650" i="0" b="0" spc="495">
                <a:solidFill>
                  <a:srgbClr val="97A98C"/>
                </a:solidFill>
                <a:latin typeface="Poppins"/>
                <a:ea typeface="Poppins"/>
                <a:cs typeface="Poppins"/>
              </a:rPr>
              <a:t>ABOUT 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-1905000" y="9229725"/>
            <a:ext cx="14097000" cy="9525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6450" i="1" b="0">
                <a:solidFill>
                  <a:srgbClr val="33322E"/>
                </a:solidFill>
                <a:latin typeface="Cormorant Garamond"/>
                <a:ea typeface="Cormorant Garamond"/>
                <a:cs typeface="Cormorant Garamond"/>
              </a:rPr>
              <a:t>Maya Ellison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-1905000" y="10334625"/>
            <a:ext cx="14097000" cy="2762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1425" i="0" b="0" spc="313">
                <a:solidFill>
                  <a:srgbClr val="8A867E"/>
                </a:solidFill>
                <a:latin typeface="Poppins"/>
                <a:ea typeface="Poppins"/>
                <a:cs typeface="Poppins"/>
              </a:rPr>
              <a:t>REALTOR®  |  MODERN LIVING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28750" y="10934700"/>
            <a:ext cx="7429500" cy="7771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70000"/>
              </a:lnSpc>
            </a:pPr>
            <a:r>
              <a:rPr sz="1800" i="0" b="0">
                <a:solidFill>
                  <a:srgbClr val="33322E"/>
                </a:solidFill>
                <a:latin typeface="Lato"/>
                <a:ea typeface="Lato"/>
                <a:cs typeface="Lato"/>
              </a:rPr>
              <a:t>Modern marketing, honest guidance, and a calm hand through every step of your move.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44912" y="16011525"/>
            <a:ext cx="3597176" cy="85725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2025" i="0" b="0" spc="445">
                <a:solidFill>
                  <a:srgbClr val="97A98C"/>
                </a:solidFill>
                <a:latin typeface="Poppins"/>
                <a:ea typeface="Poppins"/>
                <a:cs typeface="Poppins"/>
              </a:rPr>
              <a:t>LET’S CONNECT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-1905000" y="17154525"/>
            <a:ext cx="14097000" cy="2762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1425" i="0" b="0" spc="313">
                <a:solidFill>
                  <a:srgbClr val="8A867E"/>
                </a:solidFill>
                <a:latin typeface="Poppins"/>
                <a:ea typeface="Poppins"/>
                <a:cs typeface="Poppins"/>
              </a:rPr>
              <a:t>@MAYAELLISON · MAYAELLISON.COM</a:t>
            </a:r>
          </a:p>
        </p:txBody>
      </p:sp>
      <p:pic>
        <p:nvPicPr>
          <p:cNvPr id="20" name="Picture 19" descr="bright-18-story-about_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4750" y="6029325"/>
            <a:ext cx="2857500" cy="28575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