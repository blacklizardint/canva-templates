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0287000" cy="10287000"/>
  <p:notesSz cx="10287000" cy="10287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6750" y="666750"/>
            <a:ext cx="342900" cy="342900"/>
          </a:xfrm>
          <a:prstGeom prst="rect">
            <a:avLst/>
          </a:prstGeom>
          <a:ln w="6350">
            <a:solidFill>
              <a:srgbClr val="0A0A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66750" y="666750"/>
            <a:ext cx="342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42" i="1" dirty="0">
                <a:solidFill>
                  <a:srgbClr val="0A0A0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AM</a:t>
            </a:r>
            <a:endParaRPr lang="en-US" sz="1242" dirty="0"/>
          </a:p>
        </p:txBody>
      </p:sp>
      <p:sp>
        <p:nvSpPr>
          <p:cNvPr id="4" name="Text 2"/>
          <p:cNvSpPr/>
          <p:nvPr/>
        </p:nvSpPr>
        <p:spPr>
          <a:xfrm>
            <a:off x="1143000" y="666750"/>
            <a:ext cx="4000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0A0A0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Alexandra Monroe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143000" y="904875"/>
            <a:ext cx="4762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" spc="168" kern="0" dirty="0">
                <a:solidFill>
                  <a:srgbClr val="5C5B5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REALTOR® | LUXURY SPECIALIST</a:t>
            </a:r>
            <a:endParaRPr lang="en-US" sz="600" dirty="0"/>
          </a:p>
        </p:txBody>
      </p:sp>
      <p:sp>
        <p:nvSpPr>
          <p:cNvPr id="6" name="Text 4"/>
          <p:cNvSpPr/>
          <p:nvPr/>
        </p:nvSpPr>
        <p:spPr>
          <a:xfrm>
            <a:off x="5048250" y="762000"/>
            <a:ext cx="4572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spc="240" kern="0" dirty="0">
                <a:solidFill>
                  <a:srgbClr val="C9A8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 · MARKET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666750" y="1238250"/>
            <a:ext cx="8953500" cy="0"/>
          </a:xfrm>
          <a:prstGeom prst="line">
            <a:avLst/>
          </a:prstGeom>
          <a:noFill/>
          <a:ln w="6350">
            <a:solidFill>
              <a:srgbClr val="CFCB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6750" y="1638300"/>
            <a:ext cx="381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5" spc="264" kern="0" dirty="0">
                <a:solidFill>
                  <a:srgbClr val="C9A8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MARKET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5810250" y="1638300"/>
            <a:ext cx="381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spc="210" kern="0" dirty="0">
                <a:solidFill>
                  <a:srgbClr val="8A7D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MAY 2026 · ISSUE 05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666750" y="1866900"/>
            <a:ext cx="89535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5400" i="1" dirty="0">
                <a:solidFill>
                  <a:srgbClr val="0A0A0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Scottsdale,</a:t>
            </a:r>
            <a:endParaRPr lang="en-US" sz="54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5400" b="1" dirty="0">
                <a:solidFill>
                  <a:srgbClr val="0A0A0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by the numbers.</a:t>
            </a:r>
            <a:endParaRPr lang="en-US" sz="5400" dirty="0"/>
          </a:p>
        </p:txBody>
      </p:sp>
      <p:sp>
        <p:nvSpPr>
          <p:cNvPr id="11" name="Shape 9"/>
          <p:cNvSpPr/>
          <p:nvPr/>
        </p:nvSpPr>
        <p:spPr>
          <a:xfrm>
            <a:off x="3648075" y="3829050"/>
            <a:ext cx="0" cy="1428750"/>
          </a:xfrm>
          <a:prstGeom prst="line">
            <a:avLst/>
          </a:prstGeom>
          <a:noFill/>
          <a:ln w="6350">
            <a:solidFill>
              <a:srgbClr val="D4CCB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629400" y="3829050"/>
            <a:ext cx="0" cy="1428750"/>
          </a:xfrm>
          <a:prstGeom prst="line">
            <a:avLst/>
          </a:prstGeom>
          <a:noFill/>
          <a:ln w="6350">
            <a:solidFill>
              <a:srgbClr val="D4CCB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829050"/>
            <a:ext cx="25717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75" spc="189" kern="0" dirty="0">
                <a:solidFill>
                  <a:srgbClr val="8A7D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 · MEDIAN SALE PRICE</a:t>
            </a:r>
            <a:endParaRPr lang="en-US" sz="675" dirty="0"/>
          </a:p>
        </p:txBody>
      </p:sp>
      <p:sp>
        <p:nvSpPr>
          <p:cNvPr id="14" name="Text 12"/>
          <p:cNvSpPr/>
          <p:nvPr/>
        </p:nvSpPr>
        <p:spPr>
          <a:xfrm>
            <a:off x="914400" y="4000500"/>
            <a:ext cx="257175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5700" b="1" spc="-100" kern="0" dirty="0">
                <a:solidFill>
                  <a:srgbClr val="0A0A0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$1.42M</a:t>
            </a:r>
            <a:endParaRPr lang="en-US" sz="5700" dirty="0"/>
          </a:p>
        </p:txBody>
      </p:sp>
      <p:sp>
        <p:nvSpPr>
          <p:cNvPr id="15" name="Text 13"/>
          <p:cNvSpPr/>
          <p:nvPr/>
        </p:nvSpPr>
        <p:spPr>
          <a:xfrm>
            <a:off x="914400" y="4838700"/>
            <a:ext cx="25717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5" b="1" spc="148" kern="0" dirty="0">
                <a:solidFill>
                  <a:srgbClr val="C9A8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+ 4.2%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914400" y="5029200"/>
            <a:ext cx="25717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5" i="1" dirty="0">
                <a:solidFill>
                  <a:srgbClr val="8A7D6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vs. prior month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3895725" y="3829050"/>
            <a:ext cx="25717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75" spc="189" kern="0" dirty="0">
                <a:solidFill>
                  <a:srgbClr val="8A7D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 · DAYS ON MARKET</a:t>
            </a:r>
            <a:endParaRPr lang="en-US" sz="675" dirty="0"/>
          </a:p>
        </p:txBody>
      </p:sp>
      <p:sp>
        <p:nvSpPr>
          <p:cNvPr id="18" name="Text 16"/>
          <p:cNvSpPr/>
          <p:nvPr/>
        </p:nvSpPr>
        <p:spPr>
          <a:xfrm>
            <a:off x="3895725" y="4000500"/>
            <a:ext cx="257175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5700" b="1" spc="-100" kern="0" dirty="0">
                <a:solidFill>
                  <a:srgbClr val="0A0A0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18</a:t>
            </a:r>
            <a:endParaRPr lang="en-US" sz="5700" dirty="0"/>
          </a:p>
        </p:txBody>
      </p:sp>
      <p:sp>
        <p:nvSpPr>
          <p:cNvPr id="19" name="Text 17"/>
          <p:cNvSpPr/>
          <p:nvPr/>
        </p:nvSpPr>
        <p:spPr>
          <a:xfrm>
            <a:off x="3895725" y="4838700"/>
            <a:ext cx="25717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5" b="1" spc="148" kern="0" dirty="0">
                <a:solidFill>
                  <a:srgbClr val="C9A8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− 6 days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3895725" y="5029200"/>
            <a:ext cx="25717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5" i="1" dirty="0">
                <a:solidFill>
                  <a:srgbClr val="8A7D6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vs. prior month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6877050" y="3829050"/>
            <a:ext cx="25717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75" spc="189" kern="0" dirty="0">
                <a:solidFill>
                  <a:srgbClr val="8A7D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 · ACTIVE INVENTORY</a:t>
            </a:r>
            <a:endParaRPr lang="en-US" sz="675" dirty="0"/>
          </a:p>
        </p:txBody>
      </p:sp>
      <p:sp>
        <p:nvSpPr>
          <p:cNvPr id="22" name="Text 20"/>
          <p:cNvSpPr/>
          <p:nvPr/>
        </p:nvSpPr>
        <p:spPr>
          <a:xfrm>
            <a:off x="6877050" y="4000500"/>
            <a:ext cx="257175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5700" b="1" spc="-100" kern="0" dirty="0">
                <a:solidFill>
                  <a:srgbClr val="0A0A0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247</a:t>
            </a:r>
            <a:endParaRPr lang="en-US" sz="5700" dirty="0"/>
          </a:p>
        </p:txBody>
      </p:sp>
      <p:sp>
        <p:nvSpPr>
          <p:cNvPr id="23" name="Text 21"/>
          <p:cNvSpPr/>
          <p:nvPr/>
        </p:nvSpPr>
        <p:spPr>
          <a:xfrm>
            <a:off x="6877050" y="4838700"/>
            <a:ext cx="25717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5" b="1" spc="148" kern="0" dirty="0">
                <a:solidFill>
                  <a:srgbClr val="C9A8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+ 12 listings</a:t>
            </a:r>
            <a:endParaRPr lang="en-US" sz="825" dirty="0"/>
          </a:p>
        </p:txBody>
      </p:sp>
      <p:sp>
        <p:nvSpPr>
          <p:cNvPr id="24" name="Text 22"/>
          <p:cNvSpPr/>
          <p:nvPr/>
        </p:nvSpPr>
        <p:spPr>
          <a:xfrm>
            <a:off x="6877050" y="5029200"/>
            <a:ext cx="25717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5" i="1" dirty="0">
                <a:solidFill>
                  <a:srgbClr val="8A7D6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vs. prior month</a:t>
            </a:r>
            <a:endParaRPr lang="en-US" sz="825" dirty="0"/>
          </a:p>
        </p:txBody>
      </p:sp>
      <p:sp>
        <p:nvSpPr>
          <p:cNvPr id="25" name="Shape 23"/>
          <p:cNvSpPr/>
          <p:nvPr/>
        </p:nvSpPr>
        <p:spPr>
          <a:xfrm>
            <a:off x="666750" y="5772150"/>
            <a:ext cx="7620000" cy="0"/>
          </a:xfrm>
          <a:prstGeom prst="line">
            <a:avLst/>
          </a:prstGeom>
          <a:noFill/>
          <a:ln w="6350">
            <a:solidFill>
              <a:srgbClr val="DAD3C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6750" y="6000750"/>
            <a:ext cx="7620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Inventory is up, days-on-market are down, and luxury buyers are moving decisively in the $1M+ tier. The window for sellers is real — and narrowing.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66750" y="9296400"/>
            <a:ext cx="8953500" cy="0"/>
          </a:xfrm>
          <a:prstGeom prst="line">
            <a:avLst/>
          </a:prstGeom>
          <a:noFill/>
          <a:ln w="6350">
            <a:solidFill>
              <a:srgbClr val="CFCBC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66750" y="9534525"/>
            <a:ext cx="66675" cy="66675"/>
          </a:xfrm>
          <a:prstGeom prst="diamond">
            <a:avLst/>
          </a:prstGeom>
          <a:solidFill>
            <a:srgbClr val="C9A84C"/>
          </a:solidFill>
          <a:ln/>
        </p:spPr>
      </p:sp>
      <p:sp>
        <p:nvSpPr>
          <p:cNvPr id="29" name="Text 27"/>
          <p:cNvSpPr/>
          <p:nvPr/>
        </p:nvSpPr>
        <p:spPr>
          <a:xfrm>
            <a:off x="857250" y="9486900"/>
            <a:ext cx="6096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10" kern="0" dirty="0">
                <a:solidFill>
                  <a:srgbClr val="45444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@ALEXANDRAMONROE · ALEXANDRAMONROE.COM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5048250" y="9486900"/>
            <a:ext cx="4572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spc="210" kern="0" dirty="0">
                <a:solidFill>
                  <a:srgbClr val="C9A8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FULL REPORT — LINK IN BIO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2026-06-02T20:59:01Z</dcterms:created>
  <dcterms:modified xsi:type="dcterms:W3CDTF">2026-06-02T20:59:01Z</dcterms:modified>
</cp:coreProperties>
</file>