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11325225"/>
            <a:ext cx="8763000" cy="9525"/>
          </a:xfrm>
          <a:prstGeom prst="rect">
            <a:avLst/>
          </a:prstGeom>
          <a:solidFill>
            <a:srgbClr val="504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11887200"/>
            <a:ext cx="8763000" cy="9525"/>
          </a:xfrm>
          <a:prstGeom prst="rect">
            <a:avLst/>
          </a:prstGeom>
          <a:solidFill>
            <a:srgbClr val="504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2449175"/>
            <a:ext cx="8763000" cy="9525"/>
          </a:xfrm>
          <a:prstGeom prst="rect">
            <a:avLst/>
          </a:prstGeom>
          <a:solidFill>
            <a:srgbClr val="504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15840075"/>
            <a:ext cx="2621459" cy="95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2000" y="16373475"/>
            <a:ext cx="2621459" cy="95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15840075"/>
            <a:ext cx="9525" cy="5429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73934" y="15840075"/>
            <a:ext cx="9525" cy="5429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41493" y="16057656"/>
            <a:ext cx="107763" cy="107763"/>
          </a:xfrm>
          <a:prstGeom prst="rect">
            <a:avLst/>
          </a:prstGeom>
          <a:solidFill>
            <a:srgbClr val="A98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9242" y="885825"/>
            <a:ext cx="865108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650" i="1" b="0">
                <a:solidFill>
                  <a:srgbClr val="F3EEE7"/>
                </a:solidFill>
                <a:latin typeface="Newsreader"/>
                <a:ea typeface="Newsreader"/>
                <a:cs typeface="Newsreader"/>
              </a:rPr>
              <a:t>MV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7300" y="938212"/>
            <a:ext cx="4089321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1" spc="240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STORY 19 · LISTING HIGHLIGHT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9620250"/>
            <a:ext cx="14401800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75" i="0" b="1" spc="351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BEHIND THE DOOR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9915525"/>
            <a:ext cx="14401800" cy="609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4200" i="1" b="0">
                <a:solidFill>
                  <a:srgbClr val="F3EEE7"/>
                </a:solidFill>
                <a:latin typeface="Newsreader"/>
                <a:ea typeface="Newsreader"/>
                <a:cs typeface="Newsreader"/>
              </a:rPr>
              <a:t>17 Tidewater Lane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10925175"/>
            <a:ext cx="716280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1" b="0">
                <a:solidFill>
                  <a:srgbClr val="A98BA6"/>
                </a:solidFill>
                <a:latin typeface="Newsreader"/>
                <a:ea typeface="Newsreader"/>
                <a:cs typeface="Newsreader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3950" y="10925175"/>
            <a:ext cx="6327934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500" i="0" b="0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Chef’s kitchen in sea-salt oak and limestone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11487150"/>
            <a:ext cx="716280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1" b="0">
                <a:solidFill>
                  <a:srgbClr val="A98BA6"/>
                </a:solidFill>
                <a:latin typeface="Newsreader"/>
                <a:ea typeface="Newsreader"/>
                <a:cs typeface="Newsreader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3950" y="11487150"/>
            <a:ext cx="5293995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500" i="0" b="0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Floor-to-ceiling glazing, ocean views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12049125"/>
            <a:ext cx="716280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1" b="0">
                <a:solidFill>
                  <a:srgbClr val="A98BA6"/>
                </a:solidFill>
                <a:latin typeface="Newsreader"/>
                <a:ea typeface="Newsreader"/>
                <a:cs typeface="Newsreader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3950" y="12049125"/>
            <a:ext cx="5560219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500" i="0" b="0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Wraparound deck and outdoor shower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66825" y="16035338"/>
            <a:ext cx="2883694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050" i="0" b="1" spc="231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SEE ALL PHOTOS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64359" y="16021050"/>
            <a:ext cx="579120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0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-2057400" y="17306925"/>
            <a:ext cx="14401800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1" spc="264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@MARISOLVANCE  ◆  MARISOLVANCE.COM</a:t>
            </a:r>
          </a:p>
        </p:txBody>
      </p:sp>
      <p:pic>
        <p:nvPicPr>
          <p:cNvPr id="28" name="Picture 27" descr="coastal-19-listing-highlight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05000"/>
            <a:ext cx="10287000" cy="7239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