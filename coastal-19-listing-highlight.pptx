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332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762000"/>
            <a:ext cx="457200" cy="9525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2000" y="1209675"/>
            <a:ext cx="457200" cy="9525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762000"/>
            <a:ext cx="9525" cy="457200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09675" y="762000"/>
            <a:ext cx="9525" cy="457200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11744325"/>
            <a:ext cx="8763000" cy="9525"/>
          </a:xfrm>
          <a:prstGeom prst="rect">
            <a:avLst/>
          </a:prstGeom>
          <a:solidFill>
            <a:srgbClr val="504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000" y="12620625"/>
            <a:ext cx="8763000" cy="9525"/>
          </a:xfrm>
          <a:prstGeom prst="rect">
            <a:avLst/>
          </a:prstGeom>
          <a:solidFill>
            <a:srgbClr val="504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13496925"/>
            <a:ext cx="8763000" cy="9525"/>
          </a:xfrm>
          <a:prstGeom prst="rect">
            <a:avLst/>
          </a:prstGeom>
          <a:solidFill>
            <a:srgbClr val="504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000" y="15516225"/>
            <a:ext cx="4215705" cy="9525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2000" y="16373475"/>
            <a:ext cx="4215705" cy="9525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2000" y="15516225"/>
            <a:ext cx="9525" cy="866775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68180" y="15516225"/>
            <a:ext cx="9525" cy="866775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17693" y="15895731"/>
            <a:ext cx="107763" cy="107763"/>
          </a:xfrm>
          <a:prstGeom prst="rect">
            <a:avLst/>
          </a:prstGeom>
          <a:solidFill>
            <a:srgbClr val="A98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9242" y="885825"/>
            <a:ext cx="865108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650" i="1" b="0">
                <a:solidFill>
                  <a:srgbClr val="F3EEE7"/>
                </a:solidFill>
                <a:latin typeface="Newsreader"/>
                <a:ea typeface="Newsreader"/>
                <a:cs typeface="Newsreader"/>
              </a:rPr>
              <a:t>MV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5529" y="885825"/>
            <a:ext cx="6940153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425" i="0" b="1" spc="370">
                <a:solidFill>
                  <a:srgbClr val="F3EEE7"/>
                </a:solidFill>
                <a:latin typeface="Hanken Grotesk"/>
                <a:ea typeface="Hanken Grotesk"/>
                <a:cs typeface="Hanken Grotesk"/>
              </a:rPr>
              <a:t>STORY 19 · LISTING HIGHLIGHT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000" y="9620250"/>
            <a:ext cx="14401800" cy="2476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650" i="0" b="1" spc="462">
                <a:solidFill>
                  <a:srgbClr val="A98BA6"/>
                </a:solidFill>
                <a:latin typeface="Hanken Grotesk"/>
                <a:ea typeface="Hanken Grotesk"/>
                <a:cs typeface="Hanken Grotesk"/>
              </a:rPr>
              <a:t>BEHIND THE DOOR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" y="10020300"/>
            <a:ext cx="14401800" cy="6096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4200" i="1" b="0">
                <a:solidFill>
                  <a:srgbClr val="F3EEE7"/>
                </a:solidFill>
                <a:latin typeface="Newsreader"/>
                <a:ea typeface="Newsreader"/>
                <a:cs typeface="Newsreader"/>
              </a:rPr>
              <a:t>17 Tidewater Lane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" y="11087100"/>
            <a:ext cx="990600" cy="4476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3000" i="1" b="0">
                <a:solidFill>
                  <a:srgbClr val="A98BA6"/>
                </a:solidFill>
                <a:latin typeface="Newsreader"/>
                <a:ea typeface="Newsreader"/>
                <a:cs typeface="Newsreader"/>
              </a:rPr>
              <a:t>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14450" y="11087100"/>
            <a:ext cx="10787777" cy="4476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625" i="0" b="0">
                <a:solidFill>
                  <a:srgbClr val="F3EEE7"/>
                </a:solidFill>
                <a:latin typeface="Hanken Grotesk"/>
                <a:ea typeface="Hanken Grotesk"/>
                <a:cs typeface="Hanken Grotesk"/>
              </a:rPr>
              <a:t>Chef’s kitchen in sea-salt oak and limestone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11963400"/>
            <a:ext cx="990600" cy="4476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3000" i="1" b="0">
                <a:solidFill>
                  <a:srgbClr val="A98BA6"/>
                </a:solidFill>
                <a:latin typeface="Newsreader"/>
                <a:ea typeface="Newsreader"/>
                <a:cs typeface="Newsreader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14450" y="11963400"/>
            <a:ext cx="8978741" cy="4476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625" i="0" b="0">
                <a:solidFill>
                  <a:srgbClr val="F3EEE7"/>
                </a:solidFill>
                <a:latin typeface="Hanken Grotesk"/>
                <a:ea typeface="Hanken Grotesk"/>
                <a:cs typeface="Hanken Grotesk"/>
              </a:rPr>
              <a:t>Floor-to-ceiling glazing, ocean views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2000" y="12839700"/>
            <a:ext cx="990600" cy="4476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3000" i="1" b="0">
                <a:solidFill>
                  <a:srgbClr val="A98BA6"/>
                </a:solidFill>
                <a:latin typeface="Newsreader"/>
                <a:ea typeface="Newsreader"/>
                <a:cs typeface="Newsreader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14450" y="12839700"/>
            <a:ext cx="9444752" cy="4476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625" i="0" b="0">
                <a:solidFill>
                  <a:srgbClr val="F3EEE7"/>
                </a:solidFill>
                <a:latin typeface="Hanken Grotesk"/>
                <a:ea typeface="Hanken Grotesk"/>
                <a:cs typeface="Hanken Grotesk"/>
              </a:rPr>
              <a:t>Wraparound deck and outdoor shower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62075" y="15801975"/>
            <a:ext cx="4977289" cy="2952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025" i="0" b="1" spc="364">
                <a:solidFill>
                  <a:srgbClr val="F3EEE7"/>
                </a:solidFill>
                <a:latin typeface="Hanken Grotesk"/>
                <a:ea typeface="Hanken Grotesk"/>
                <a:cs typeface="Hanken Grotesk"/>
              </a:rPr>
              <a:t>SEE ALL PHOTOS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7155" y="15792450"/>
            <a:ext cx="731520" cy="3143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100" i="0" b="0">
                <a:solidFill>
                  <a:srgbClr val="A98BA6"/>
                </a:solidFill>
                <a:latin typeface="Hanken Grotesk"/>
                <a:ea typeface="Hanken Grotesk"/>
                <a:cs typeface="Hanken Grotesk"/>
              </a:rPr>
              <a:t>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-2057400" y="17211675"/>
            <a:ext cx="14401800" cy="2190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425" i="0" b="1" spc="370">
                <a:solidFill>
                  <a:srgbClr val="F3EEE7"/>
                </a:solidFill>
                <a:latin typeface="Hanken Grotesk"/>
                <a:ea typeface="Hanken Grotesk"/>
                <a:cs typeface="Hanken Grotesk"/>
              </a:rPr>
              <a:t>@MARISOLVANCE  ◆  MARISOLVANCE.COM</a:t>
            </a:r>
          </a:p>
        </p:txBody>
      </p:sp>
      <p:pic>
        <p:nvPicPr>
          <p:cNvPr id="28" name="Picture 27" descr="coastal-19-listing-highlight_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05000"/>
            <a:ext cx="10287000" cy="7239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