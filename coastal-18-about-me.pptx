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10925175"/>
            <a:ext cx="8763000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11572875"/>
            <a:ext cx="8763000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2220575"/>
            <a:ext cx="8763000" cy="9525"/>
          </a:xfrm>
          <a:prstGeom prst="rect">
            <a:avLst/>
          </a:prstGeom>
          <a:solidFill>
            <a:srgbClr val="D0C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5840075"/>
            <a:ext cx="2830711" cy="95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6373475"/>
            <a:ext cx="2830711" cy="95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15840075"/>
            <a:ext cx="9525" cy="5429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83186" y="15840075"/>
            <a:ext cx="9525" cy="542925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41493" y="16057656"/>
            <a:ext cx="107763" cy="107763"/>
          </a:xfrm>
          <a:prstGeom prst="rect">
            <a:avLst/>
          </a:prstGeom>
          <a:solidFill>
            <a:srgbClr val="A98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9242" y="885825"/>
            <a:ext cx="865108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650" i="1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MV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3220" y="938212"/>
            <a:ext cx="2975848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240">
                <a:solidFill>
                  <a:srgbClr val="332C46"/>
                </a:solidFill>
                <a:latin typeface="Hanken Grotesk"/>
                <a:ea typeface="Hanken Grotesk"/>
                <a:cs typeface="Hanken Grotesk"/>
              </a:rPr>
              <a:t>STORY 18 · ABOUT 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3276600" y="6000750"/>
            <a:ext cx="16840200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75" i="0" b="1" spc="351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MEET YOUR REALTOR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3276600" y="6276975"/>
            <a:ext cx="16840200" cy="704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4800" i="1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Marisol Vance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3276600" y="7058025"/>
            <a:ext cx="168402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00" i="0" b="1" spc="252">
                <a:solidFill>
                  <a:srgbClr val="8A8090"/>
                </a:solidFill>
                <a:latin typeface="Hanken Grotesk"/>
                <a:ea typeface="Hanken Grotesk"/>
                <a:cs typeface="Hanken Grotesk"/>
              </a:rPr>
              <a:t>REALTOR® · COASTAL SPECIALIST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0477500"/>
            <a:ext cx="746760" cy="2571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800" i="1" b="0">
                <a:solidFill>
                  <a:srgbClr val="A98BA6"/>
                </a:solidFill>
                <a:latin typeface="Newsreader"/>
                <a:ea typeface="Newsreader"/>
                <a:cs typeface="Newsreader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2050" y="10477500"/>
            <a:ext cx="1898809" cy="2381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Eight years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53096" y="10534650"/>
            <a:ext cx="4049316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0">
                <a:solidFill>
                  <a:srgbClr val="8A8090"/>
                </a:solidFill>
                <a:latin typeface="Hanken Grotesk"/>
                <a:ea typeface="Hanken Grotesk"/>
                <a:cs typeface="Hanken Grotesk"/>
              </a:rPr>
              <a:t>— selling along Santa Lucia’s coast.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11125200"/>
            <a:ext cx="746760" cy="2571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800" i="1" b="0">
                <a:solidFill>
                  <a:srgbClr val="A98BA6"/>
                </a:solidFill>
                <a:latin typeface="Newsreader"/>
                <a:ea typeface="Newsreader"/>
                <a:cs typeface="Newsreader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2050" y="11125200"/>
            <a:ext cx="1428512" cy="2381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Top 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59161" y="11182350"/>
            <a:ext cx="4091702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0">
                <a:solidFill>
                  <a:srgbClr val="8A8090"/>
                </a:solidFill>
                <a:latin typeface="Hanken Grotesk"/>
                <a:ea typeface="Hanken Grotesk"/>
                <a:cs typeface="Hanken Grotesk"/>
              </a:rPr>
              <a:t>— of agents on the coast by volume.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11772900"/>
            <a:ext cx="746760" cy="2571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800" i="1" b="0">
                <a:solidFill>
                  <a:srgbClr val="A98BA6"/>
                </a:solidFill>
                <a:latin typeface="Newsreader"/>
                <a:ea typeface="Newsreader"/>
                <a:cs typeface="Newsreader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2050" y="11772900"/>
            <a:ext cx="2057400" cy="2381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>
                <a:solidFill>
                  <a:srgbClr val="332C46"/>
                </a:solidFill>
                <a:latin typeface="Newsreader"/>
                <a:ea typeface="Newsreader"/>
                <a:cs typeface="Newsreader"/>
              </a:rPr>
              <a:t>Mom of two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52216" y="11830050"/>
            <a:ext cx="3824764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0">
                <a:solidFill>
                  <a:srgbClr val="8A8090"/>
                </a:solidFill>
                <a:latin typeface="Hanken Grotesk"/>
                <a:ea typeface="Hanken Grotesk"/>
                <a:cs typeface="Hanken Grotesk"/>
              </a:rPr>
              <a:t>— and a very enthusiastic golden.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66825" y="16035338"/>
            <a:ext cx="3218498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050" i="0" b="1" spc="231">
                <a:solidFill>
                  <a:srgbClr val="332C46"/>
                </a:solidFill>
                <a:latin typeface="Hanken Grotesk"/>
                <a:ea typeface="Hanken Grotesk"/>
                <a:cs typeface="Hanken Grotesk"/>
              </a:rPr>
              <a:t>FOLLOW FOR MORE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73611" y="16021050"/>
            <a:ext cx="579120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0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2057400" y="17306925"/>
            <a:ext cx="14401800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1" spc="264">
                <a:solidFill>
                  <a:srgbClr val="332C46"/>
                </a:solidFill>
                <a:latin typeface="Hanken Grotesk"/>
                <a:ea typeface="Hanken Grotesk"/>
                <a:cs typeface="Hanken Grotesk"/>
              </a:rPr>
              <a:t>@MARISOLVANCE  ◆  MARISOLVANCE.COM</a:t>
            </a:r>
          </a:p>
        </p:txBody>
      </p:sp>
      <p:pic>
        <p:nvPicPr>
          <p:cNvPr id="32" name="Picture 31" descr="coastal-18-about-m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2190750"/>
            <a:ext cx="3429000" cy="3429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