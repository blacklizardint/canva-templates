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66750" y="1276350"/>
            <a:ext cx="8953500" cy="9525"/>
          </a:xfrm>
          <a:prstGeom prst="rect">
            <a:avLst/>
          </a:prstGeom>
          <a:solidFill>
            <a:srgbClr val="423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666750"/>
            <a:ext cx="400050" cy="9525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66750" y="1057275"/>
            <a:ext cx="400050" cy="9525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6750" y="666750"/>
            <a:ext cx="9525" cy="40005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7275" y="666750"/>
            <a:ext cx="9525" cy="40005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0968" y="5880193"/>
            <a:ext cx="107763" cy="107763"/>
          </a:xfrm>
          <a:prstGeom prst="rect">
            <a:avLst/>
          </a:prstGeom>
          <a:solidFill>
            <a:srgbClr val="BC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0968" y="6375493"/>
            <a:ext cx="107763" cy="107763"/>
          </a:xfrm>
          <a:prstGeom prst="rect">
            <a:avLst/>
          </a:prstGeom>
          <a:solidFill>
            <a:srgbClr val="BC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0968" y="6870793"/>
            <a:ext cx="107763" cy="107763"/>
          </a:xfrm>
          <a:prstGeom prst="rect">
            <a:avLst/>
          </a:prstGeom>
          <a:solidFill>
            <a:srgbClr val="BC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6750" y="9315450"/>
            <a:ext cx="8953500" cy="9525"/>
          </a:xfrm>
          <a:prstGeom prst="rect">
            <a:avLst/>
          </a:prstGeom>
          <a:solidFill>
            <a:srgbClr val="423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4914" y="9527452"/>
            <a:ext cx="80822" cy="80822"/>
          </a:xfrm>
          <a:prstGeom prst="rect">
            <a:avLst/>
          </a:prstGeom>
          <a:solidFill>
            <a:srgbClr val="BC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3814" y="795338"/>
            <a:ext cx="742236" cy="1428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125" i="0" b="1" spc="45">
                <a:solidFill>
                  <a:srgbClr val="FAF6F0"/>
                </a:solidFill>
                <a:latin typeface="Archivo"/>
                <a:ea typeface="Archivo"/>
                <a:cs typeface="Archivo"/>
              </a:rPr>
              <a:t>SM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0150" y="723900"/>
            <a:ext cx="2764869" cy="1428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125" i="0" b="1" spc="45">
                <a:solidFill>
                  <a:srgbClr val="FAF6F0"/>
                </a:solidFill>
                <a:latin typeface="Archivo"/>
                <a:ea typeface="Archivo"/>
                <a:cs typeface="Archivo"/>
              </a:rPr>
              <a:t>STUDIO MAEVE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0150" y="923925"/>
            <a:ext cx="2764869" cy="857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00" i="0" b="0" spc="108">
                <a:solidFill>
                  <a:srgbClr val="A09D98"/>
                </a:solidFill>
                <a:latin typeface="Space Mono"/>
                <a:ea typeface="Space Mono"/>
                <a:cs typeface="Space Mono"/>
              </a:rPr>
              <a:t>INTERIOR DESIGN &amp; STYLING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9704" y="814388"/>
            <a:ext cx="2413873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75">
                <a:solidFill>
                  <a:srgbClr val="8A7E6F"/>
                </a:solidFill>
                <a:latin typeface="Space Mono"/>
                <a:ea typeface="Space Mono"/>
                <a:cs typeface="Space Mono"/>
              </a:rPr>
              <a:t>01 · PROJECT REVEAL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6750" y="3171825"/>
            <a:ext cx="8197691" cy="133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00" i="0" b="1" spc="306">
                <a:solidFill>
                  <a:srgbClr val="BC5B36"/>
                </a:solidFill>
                <a:latin typeface="Archivo"/>
                <a:ea typeface="Archivo"/>
                <a:cs typeface="Archivo"/>
              </a:rPr>
              <a:t>PROJECT REVEAL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750" y="3476625"/>
            <a:ext cx="4885432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4500" i="1" b="0">
                <a:solidFill>
                  <a:srgbClr val="FAF6F0"/>
                </a:solidFill>
                <a:latin typeface="Fraunces"/>
                <a:ea typeface="Fraunces"/>
                <a:cs typeface="Fraunces"/>
              </a:rPr>
              <a:t>The Hawthorne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750" y="4772025"/>
            <a:ext cx="8197691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825" i="0" b="0" spc="148">
                <a:solidFill>
                  <a:srgbClr val="B7B3AE"/>
                </a:solidFill>
                <a:latin typeface="Space Mono"/>
                <a:ea typeface="Space Mono"/>
                <a:cs typeface="Space Mono"/>
              </a:rPr>
              <a:t>PORTLAND, OREGON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750" y="5048250"/>
            <a:ext cx="8197691" cy="4286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000" i="0" b="1" spc="-60">
                <a:solidFill>
                  <a:srgbClr val="BC5B36"/>
                </a:solidFill>
                <a:latin typeface="Archivo"/>
                <a:ea typeface="Archivo"/>
                <a:cs typeface="Archivo"/>
              </a:rPr>
              <a:t>FULL-HOME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6300" y="5838825"/>
            <a:ext cx="2390775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50" i="0" b="1" spc="10">
                <a:solidFill>
                  <a:srgbClr val="FAF6F0"/>
                </a:solidFill>
                <a:latin typeface="Archivo"/>
                <a:ea typeface="Archivo"/>
                <a:cs typeface="Archivo"/>
              </a:rPr>
              <a:t>5 Rooms · 2,400 SF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6300" y="6029325"/>
            <a:ext cx="2390775" cy="1143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825" i="0" b="0" spc="8">
                <a:solidFill>
                  <a:srgbClr val="95928D"/>
                </a:solidFill>
                <a:latin typeface="Archivo"/>
                <a:ea typeface="Archivo"/>
                <a:cs typeface="Archivo"/>
              </a:rPr>
              <a:t>Full-home design &amp; styling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6300" y="6334125"/>
            <a:ext cx="2703433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50" i="0" b="1" spc="10">
                <a:solidFill>
                  <a:srgbClr val="FAF6F0"/>
                </a:solidFill>
                <a:latin typeface="Archivo"/>
                <a:ea typeface="Archivo"/>
                <a:cs typeface="Archivo"/>
              </a:rPr>
              <a:t>Custom Millwork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6300" y="6524625"/>
            <a:ext cx="2703433" cy="1143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825" i="0" b="0" spc="8">
                <a:solidFill>
                  <a:srgbClr val="95928D"/>
                </a:solidFill>
                <a:latin typeface="Archivo"/>
                <a:ea typeface="Archivo"/>
                <a:cs typeface="Archivo"/>
              </a:rPr>
              <a:t>White oak · unlacquered brass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6300" y="6829425"/>
            <a:ext cx="2431256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50" i="0" b="1" spc="10">
                <a:solidFill>
                  <a:srgbClr val="FAF6F0"/>
                </a:solidFill>
                <a:latin typeface="Archivo"/>
                <a:ea typeface="Archivo"/>
                <a:cs typeface="Archivo"/>
              </a:rPr>
              <a:t>Reading Nook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6300" y="7019925"/>
            <a:ext cx="2431256" cy="1143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825" i="0" b="0" spc="8">
                <a:solidFill>
                  <a:srgbClr val="95928D"/>
                </a:solidFill>
                <a:latin typeface="Archivo"/>
                <a:ea typeface="Archivo"/>
                <a:cs typeface="Archivo"/>
              </a:rPr>
              <a:t>Bouclé · vintage kilim · oak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675" y="9515475"/>
            <a:ext cx="3865245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120">
                <a:solidFill>
                  <a:srgbClr val="C2BEB9"/>
                </a:solidFill>
                <a:latin typeface="Space Mono"/>
                <a:ea typeface="Space Mono"/>
                <a:cs typeface="Space Mono"/>
              </a:rPr>
              <a:t>@STUDIOMAEVE · STUDIOMAEVE.COM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99028" y="9515475"/>
            <a:ext cx="3454956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1" spc="165">
                <a:solidFill>
                  <a:srgbClr val="BC5B36"/>
                </a:solidFill>
                <a:latin typeface="Archivo"/>
                <a:ea typeface="Archivo"/>
                <a:cs typeface="Archivo"/>
              </a:rPr>
              <a:t>DM TO START YOUR PROJECT</a:t>
            </a:r>
          </a:p>
        </p:txBody>
      </p:sp>
      <p:pic>
        <p:nvPicPr>
          <p:cNvPr id="29" name="Picture 28" descr="atelier-f01-project-reveal_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9382" y="1733550"/>
            <a:ext cx="3610868" cy="70294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