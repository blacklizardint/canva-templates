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287000" cy="1828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828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62000" y="762000"/>
            <a:ext cx="552450" cy="9525"/>
          </a:xfrm>
          <a:prstGeom prst="rect">
            <a:avLst/>
          </a:prstGeom>
          <a:solidFill>
            <a:srgbClr val="1A17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62000" y="1304925"/>
            <a:ext cx="552450" cy="9525"/>
          </a:xfrm>
          <a:prstGeom prst="rect">
            <a:avLst/>
          </a:prstGeom>
          <a:solidFill>
            <a:srgbClr val="1A17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62000" y="762000"/>
            <a:ext cx="9525" cy="552450"/>
          </a:xfrm>
          <a:prstGeom prst="rect">
            <a:avLst/>
          </a:prstGeom>
          <a:solidFill>
            <a:srgbClr val="1A17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304925" y="762000"/>
            <a:ext cx="9525" cy="552450"/>
          </a:xfrm>
          <a:prstGeom prst="rect">
            <a:avLst/>
          </a:prstGeom>
          <a:solidFill>
            <a:srgbClr val="1A17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2000" y="5784949"/>
            <a:ext cx="8763000" cy="1885950"/>
          </a:xfrm>
          <a:prstGeom prst="rect">
            <a:avLst/>
          </a:prstGeom>
          <a:solidFill>
            <a:srgbClr val="FDF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2000" y="5784949"/>
            <a:ext cx="8763000" cy="9525"/>
          </a:xfrm>
          <a:prstGeom prst="rect">
            <a:avLst/>
          </a:prstGeom>
          <a:solidFill>
            <a:srgbClr val="E5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62000" y="7661374"/>
            <a:ext cx="8763000" cy="9525"/>
          </a:xfrm>
          <a:prstGeom prst="rect">
            <a:avLst/>
          </a:prstGeom>
          <a:solidFill>
            <a:srgbClr val="E5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2000" y="5784949"/>
            <a:ext cx="9525" cy="1885950"/>
          </a:xfrm>
          <a:prstGeom prst="rect">
            <a:avLst/>
          </a:prstGeom>
          <a:solidFill>
            <a:srgbClr val="E5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515475" y="5784949"/>
            <a:ext cx="9525" cy="1885950"/>
          </a:xfrm>
          <a:prstGeom prst="rect">
            <a:avLst/>
          </a:prstGeom>
          <a:solidFill>
            <a:srgbClr val="E5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2000" y="7899499"/>
            <a:ext cx="8763000" cy="1885950"/>
          </a:xfrm>
          <a:prstGeom prst="rect">
            <a:avLst/>
          </a:prstGeom>
          <a:solidFill>
            <a:srgbClr val="FDF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62000" y="7899499"/>
            <a:ext cx="8763000" cy="9525"/>
          </a:xfrm>
          <a:prstGeom prst="rect">
            <a:avLst/>
          </a:prstGeom>
          <a:solidFill>
            <a:srgbClr val="E5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2000" y="9775924"/>
            <a:ext cx="8763000" cy="9525"/>
          </a:xfrm>
          <a:prstGeom prst="rect">
            <a:avLst/>
          </a:prstGeom>
          <a:solidFill>
            <a:srgbClr val="E5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62000" y="7899499"/>
            <a:ext cx="9525" cy="1885950"/>
          </a:xfrm>
          <a:prstGeom prst="rect">
            <a:avLst/>
          </a:prstGeom>
          <a:solidFill>
            <a:srgbClr val="E5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515475" y="7899499"/>
            <a:ext cx="9525" cy="1885950"/>
          </a:xfrm>
          <a:prstGeom prst="rect">
            <a:avLst/>
          </a:prstGeom>
          <a:solidFill>
            <a:srgbClr val="E5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62000" y="10014049"/>
            <a:ext cx="8763000" cy="1885950"/>
          </a:xfrm>
          <a:prstGeom prst="rect">
            <a:avLst/>
          </a:prstGeom>
          <a:solidFill>
            <a:srgbClr val="FDF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2000" y="10014049"/>
            <a:ext cx="8763000" cy="9525"/>
          </a:xfrm>
          <a:prstGeom prst="rect">
            <a:avLst/>
          </a:prstGeom>
          <a:solidFill>
            <a:srgbClr val="E5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62000" y="11890474"/>
            <a:ext cx="8763000" cy="9525"/>
          </a:xfrm>
          <a:prstGeom prst="rect">
            <a:avLst/>
          </a:prstGeom>
          <a:solidFill>
            <a:srgbClr val="E5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62000" y="10014049"/>
            <a:ext cx="9525" cy="1885950"/>
          </a:xfrm>
          <a:prstGeom prst="rect">
            <a:avLst/>
          </a:prstGeom>
          <a:solidFill>
            <a:srgbClr val="E5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515475" y="10014049"/>
            <a:ext cx="9525" cy="1885950"/>
          </a:xfrm>
          <a:prstGeom prst="rect">
            <a:avLst/>
          </a:prstGeom>
          <a:solidFill>
            <a:srgbClr val="E5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62000" y="15782925"/>
            <a:ext cx="8763000" cy="9525"/>
          </a:xfrm>
          <a:prstGeom prst="rect">
            <a:avLst/>
          </a:prstGeom>
          <a:solidFill>
            <a:srgbClr val="E5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62000" y="16659225"/>
            <a:ext cx="8763000" cy="9525"/>
          </a:xfrm>
          <a:prstGeom prst="rect">
            <a:avLst/>
          </a:prstGeom>
          <a:solidFill>
            <a:srgbClr val="E5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62000" y="15782925"/>
            <a:ext cx="9525" cy="885825"/>
          </a:xfrm>
          <a:prstGeom prst="rect">
            <a:avLst/>
          </a:prstGeom>
          <a:solidFill>
            <a:srgbClr val="E5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515475" y="15782925"/>
            <a:ext cx="9525" cy="885825"/>
          </a:xfrm>
          <a:prstGeom prst="rect">
            <a:avLst/>
          </a:prstGeom>
          <a:solidFill>
            <a:srgbClr val="E5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77621" y="16165220"/>
            <a:ext cx="121233" cy="121234"/>
          </a:xfrm>
          <a:prstGeom prst="rect">
            <a:avLst/>
          </a:prstGeom>
          <a:solidFill>
            <a:srgbClr val="BC5B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80170" y="938212"/>
            <a:ext cx="886778" cy="2000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</a:pPr>
            <a:r>
              <a:rPr sz="1575" i="0" b="1" spc="63">
                <a:solidFill>
                  <a:srgbClr val="1A1714"/>
                </a:solidFill>
                <a:latin typeface="Archivo"/>
                <a:ea typeface="Archivo"/>
                <a:cs typeface="Archivo"/>
              </a:rPr>
              <a:t>SM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04856" y="933450"/>
            <a:ext cx="4893231" cy="2095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425" i="0" b="0" spc="199">
                <a:solidFill>
                  <a:srgbClr val="8A7E6F"/>
                </a:solidFill>
                <a:latin typeface="Space Mono"/>
                <a:ea typeface="Space Mono"/>
                <a:cs typeface="Space Mono"/>
              </a:rPr>
              <a:t>STORY 05 · THE STUDIO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2000" y="2857500"/>
            <a:ext cx="14401800" cy="2476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650" i="0" b="1" spc="495">
                <a:solidFill>
                  <a:srgbClr val="BC5B36"/>
                </a:solidFill>
                <a:latin typeface="Archivo"/>
                <a:ea typeface="Archivo"/>
                <a:cs typeface="Archivo"/>
              </a:rPr>
              <a:t>THE STUDIO · MAY 2026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2000" y="3200400"/>
            <a:ext cx="7425928" cy="10953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92000"/>
              </a:lnSpc>
            </a:pPr>
            <a:r>
              <a:rPr sz="7800" i="1" b="0">
                <a:solidFill>
                  <a:srgbClr val="1A1714"/>
                </a:solidFill>
                <a:latin typeface="Fraunces"/>
                <a:ea typeface="Fraunces"/>
                <a:cs typeface="Fraunces"/>
              </a:rPr>
              <a:t>The studio,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62000" y="4102150"/>
            <a:ext cx="14345126" cy="11049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92000"/>
              </a:lnSpc>
            </a:pPr>
            <a:r>
              <a:rPr sz="7800" i="0" b="1" spc="-234">
                <a:solidFill>
                  <a:srgbClr val="1A1714"/>
                </a:solidFill>
                <a:latin typeface="Archivo"/>
                <a:ea typeface="Archivo"/>
                <a:cs typeface="Archivo"/>
              </a:rPr>
              <a:t>BY THE NUMBERS.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52525" y="6552605"/>
            <a:ext cx="853440" cy="35049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92000"/>
              </a:lnSpc>
            </a:pPr>
            <a:r>
              <a:rPr sz="3000" i="1" b="0">
                <a:solidFill>
                  <a:srgbClr val="BC5B36"/>
                </a:solidFill>
                <a:latin typeface="Fraunces"/>
                <a:ea typeface="Fraunces"/>
                <a:cs typeface="Fraunces"/>
              </a:rPr>
              <a:t>◆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733550" y="6175474"/>
            <a:ext cx="11209496" cy="2095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425" i="0" b="1" spc="228">
                <a:solidFill>
                  <a:srgbClr val="8A7E6F"/>
                </a:solidFill>
                <a:latin typeface="Archivo"/>
                <a:ea typeface="Archivo"/>
                <a:cs typeface="Archivo"/>
              </a:rPr>
              <a:t>PROJECTS COMPLETED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733550" y="6480274"/>
            <a:ext cx="11209496" cy="8001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</a:pPr>
            <a:r>
              <a:rPr sz="6300" i="0" b="1" spc="-189">
                <a:solidFill>
                  <a:srgbClr val="1A1714"/>
                </a:solidFill>
                <a:latin typeface="Archivo"/>
                <a:ea typeface="Archivo"/>
                <a:cs typeface="Archivo"/>
              </a:rPr>
              <a:t>124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787110" y="6623149"/>
            <a:ext cx="936784" cy="2095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425" i="0" b="1">
                <a:solidFill>
                  <a:srgbClr val="BC5B36"/>
                </a:solidFill>
                <a:latin typeface="Archivo"/>
                <a:ea typeface="Archivo"/>
                <a:cs typeface="Archivo"/>
              </a:rPr>
              <a:t>+ 11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52525" y="8667155"/>
            <a:ext cx="853440" cy="35049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92000"/>
              </a:lnSpc>
            </a:pPr>
            <a:r>
              <a:rPr sz="3000" i="1" b="0">
                <a:solidFill>
                  <a:srgbClr val="BC5B36"/>
                </a:solidFill>
                <a:latin typeface="Fraunces"/>
                <a:ea typeface="Fraunces"/>
                <a:cs typeface="Fraunces"/>
              </a:rPr>
              <a:t>◆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733550" y="8290024"/>
            <a:ext cx="10253424" cy="2095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425" i="0" b="1" spc="228">
                <a:solidFill>
                  <a:srgbClr val="8A7E6F"/>
                </a:solidFill>
                <a:latin typeface="Archivo"/>
                <a:ea typeface="Archivo"/>
                <a:cs typeface="Archivo"/>
              </a:rPr>
              <a:t>ROOMS STYLED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733550" y="8594824"/>
            <a:ext cx="10253424" cy="8001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</a:pPr>
            <a:r>
              <a:rPr sz="6300" i="0" b="1" spc="-189">
                <a:solidFill>
                  <a:srgbClr val="1A1714"/>
                </a:solidFill>
                <a:latin typeface="Archivo"/>
                <a:ea typeface="Archivo"/>
                <a:cs typeface="Archivo"/>
              </a:rPr>
              <a:t>300+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189565" y="8737699"/>
            <a:ext cx="1892856" cy="2095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425" i="0" b="1">
                <a:solidFill>
                  <a:srgbClr val="BC5B36"/>
                </a:solidFill>
                <a:latin typeface="Archivo"/>
                <a:ea typeface="Archivo"/>
                <a:cs typeface="Archivo"/>
              </a:rPr>
              <a:t>&amp; counting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52525" y="10781705"/>
            <a:ext cx="853440" cy="35049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92000"/>
              </a:lnSpc>
            </a:pPr>
            <a:r>
              <a:rPr sz="3000" i="1" b="0">
                <a:solidFill>
                  <a:srgbClr val="BC5B36"/>
                </a:solidFill>
                <a:latin typeface="Fraunces"/>
                <a:ea typeface="Fraunces"/>
                <a:cs typeface="Fraunces"/>
              </a:rPr>
              <a:t>◆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733550" y="10404574"/>
            <a:ext cx="10300097" cy="2095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425" i="0" b="1" spc="228">
                <a:solidFill>
                  <a:srgbClr val="8A7E6F"/>
                </a:solidFill>
                <a:latin typeface="Archivo"/>
                <a:ea typeface="Archivo"/>
                <a:cs typeface="Archivo"/>
              </a:rPr>
              <a:t>YEARS IN STUDIO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733550" y="10709374"/>
            <a:ext cx="10300097" cy="8001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</a:pPr>
            <a:r>
              <a:rPr sz="6300" i="0" b="1" spc="-189">
                <a:solidFill>
                  <a:srgbClr val="1A1714"/>
                </a:solidFill>
                <a:latin typeface="Archivo"/>
                <a:ea typeface="Archivo"/>
                <a:cs typeface="Archivo"/>
              </a:rPr>
              <a:t>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18736" y="10852249"/>
            <a:ext cx="1846183" cy="2095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425" i="0" b="1">
                <a:solidFill>
                  <a:srgbClr val="BC5B36"/>
                </a:solidFill>
                <a:latin typeface="Archivo"/>
                <a:ea typeface="Archivo"/>
                <a:cs typeface="Archivo"/>
              </a:rPr>
              <a:t>since 2017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333500" y="16078200"/>
            <a:ext cx="5215890" cy="2952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2025" i="0" b="1" spc="162">
                <a:solidFill>
                  <a:srgbClr val="1A1714"/>
                </a:solidFill>
                <a:latin typeface="Archivo"/>
                <a:ea typeface="Archivo"/>
                <a:cs typeface="Archivo"/>
              </a:rPr>
              <a:t>SEE THE PORTFOLIO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982075" y="16078200"/>
            <a:ext cx="716280" cy="2952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950" i="0" b="0">
                <a:solidFill>
                  <a:srgbClr val="BC5B36"/>
                </a:solidFill>
                <a:latin typeface="Archivo"/>
                <a:ea typeface="Archivo"/>
                <a:cs typeface="Archivo"/>
              </a:rPr>
              <a:t>↗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329690" y="17164050"/>
            <a:ext cx="7627620" cy="2095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1425" i="0" b="0" spc="256">
                <a:solidFill>
                  <a:srgbClr val="8A7E6F"/>
                </a:solidFill>
                <a:latin typeface="Space Mono"/>
                <a:ea typeface="Space Mono"/>
                <a:cs typeface="Space Mono"/>
              </a:rPr>
              <a:t>@STUDIOMAEVE  ◆  STUDIOMAEVE.COM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