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6192500" cy="20955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192500" cy="20955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13350180"/>
            <a:ext cx="144780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7250" y="14246275"/>
            <a:ext cx="144780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7250" y="21479173"/>
            <a:ext cx="144780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7250" y="11144250"/>
            <a:ext cx="23545800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050" i="0" b="1" spc="357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JUST COMPLETED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7250" y="11449050"/>
            <a:ext cx="23545800" cy="113913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9750" i="1" b="0">
                <a:solidFill>
                  <a:srgbClr val="1A1714"/>
                </a:solidFill>
                <a:latin typeface="Fraunces"/>
                <a:ea typeface="Fraunces"/>
                <a:cs typeface="Fraunces"/>
              </a:rPr>
              <a:t>The Hawthorne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7250" y="12721530"/>
            <a:ext cx="23545800" cy="2476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650" i="0" b="0">
                <a:solidFill>
                  <a:srgbClr val="8A7E6F"/>
                </a:solidFill>
                <a:latin typeface="Archivo"/>
                <a:ea typeface="Archivo"/>
                <a:cs typeface="Archivo"/>
              </a:rPr>
              <a:t>Portland, Oregon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7250" y="13607355"/>
            <a:ext cx="6172200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75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STYLE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7250" y="13788330"/>
            <a:ext cx="6172200" cy="210294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1800" i="1" b="0">
                <a:solidFill>
                  <a:srgbClr val="1A1714"/>
                </a:solidFill>
                <a:latin typeface="Fraunces"/>
                <a:ea typeface="Fraunces"/>
                <a:cs typeface="Fraunces"/>
              </a:rPr>
              <a:t>1910 Craftsman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6750" y="13607355"/>
            <a:ext cx="6172200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75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SCOPE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6750" y="13788330"/>
            <a:ext cx="6172200" cy="210294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1800" i="1" b="0">
                <a:solidFill>
                  <a:srgbClr val="1A1714"/>
                </a:solidFill>
                <a:latin typeface="Fraunces"/>
                <a:ea typeface="Fraunces"/>
                <a:cs typeface="Fraunces"/>
              </a:rPr>
              <a:t>Full home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6250" y="13607355"/>
            <a:ext cx="6172200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75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ROOMS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6250" y="13788330"/>
            <a:ext cx="6172200" cy="210294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1800" i="1" b="0">
                <a:solidFill>
                  <a:srgbClr val="1A1714"/>
                </a:solidFill>
                <a:latin typeface="Fraunces"/>
                <a:ea typeface="Fraunces"/>
                <a:cs typeface="Fraunces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15750" y="13607355"/>
            <a:ext cx="6172200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75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YEAR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15750" y="13788330"/>
            <a:ext cx="6172200" cy="210294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1800" i="1" b="0">
                <a:solidFill>
                  <a:srgbClr val="1A1714"/>
                </a:solidFill>
                <a:latin typeface="Fraunces"/>
                <a:ea typeface="Fraunces"/>
                <a:cs typeface="Fraunces"/>
              </a:rPr>
              <a:t>2024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7250" y="14579650"/>
            <a:ext cx="20193000" cy="270867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58000"/>
              </a:lnSpc>
            </a:pPr>
            <a:r>
              <a:rPr sz="1350" i="0" b="0">
                <a:solidFill>
                  <a:srgbClr val="2A2622"/>
                </a:solidFill>
                <a:latin typeface="Archivo"/>
                <a:ea typeface="Archivo"/>
                <a:cs typeface="Archivo"/>
              </a:rPr>
              <a:t>A warm, lived-in renovation of a 1910 Craftsman — original millwork restored, rooms layered in oak, brass, and bouclé. Calm, collected, and unmistakably theirs.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250" y="21717298"/>
            <a:ext cx="2645807" cy="210294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1800" i="1" b="0">
                <a:solidFill>
                  <a:srgbClr val="1A1714"/>
                </a:solidFill>
                <a:latin typeface="Fraunces"/>
                <a:ea typeface="Fraunces"/>
                <a:cs typeface="Fraunces"/>
              </a:rPr>
              <a:t>Maeve Sullivan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7250" y="21984742"/>
            <a:ext cx="2645807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75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PRINCIPAL DESIGNER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52472" y="21946642"/>
            <a:ext cx="8513445" cy="142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75" i="0" b="0" spc="58">
                <a:solidFill>
                  <a:srgbClr val="1A1714"/>
                </a:solidFill>
                <a:latin typeface="Space Mono"/>
                <a:ea typeface="Space Mono"/>
                <a:cs typeface="Space Mono"/>
              </a:rPr>
              <a:t>503 · 555 · 0142  ·  hello@studiomaeve.com  ·  studiomaeve.com</a:t>
            </a:r>
          </a:p>
        </p:txBody>
      </p:sp>
      <p:pic>
        <p:nvPicPr>
          <p:cNvPr id="21" name="Picture 20" descr="atelier-x03-project-flyer_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192500" cy="10287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