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66750" y="1276350"/>
            <a:ext cx="8953500" cy="9525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666750"/>
            <a:ext cx="400050" cy="9525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66750" y="1057275"/>
            <a:ext cx="400050" cy="9525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6750" y="666750"/>
            <a:ext cx="9525" cy="400050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57275" y="666750"/>
            <a:ext cx="9525" cy="400050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6750" y="3322737"/>
            <a:ext cx="2846040" cy="9525"/>
          </a:xfrm>
          <a:prstGeom prst="rect">
            <a:avLst/>
          </a:prstGeom>
          <a:solidFill>
            <a:srgbClr val="BC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6750" y="3694212"/>
            <a:ext cx="2846040" cy="9525"/>
          </a:xfrm>
          <a:prstGeom prst="rect">
            <a:avLst/>
          </a:prstGeom>
          <a:solidFill>
            <a:srgbClr val="BC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6750" y="3322737"/>
            <a:ext cx="9525" cy="381000"/>
          </a:xfrm>
          <a:prstGeom prst="rect">
            <a:avLst/>
          </a:prstGeom>
          <a:solidFill>
            <a:srgbClr val="BC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03265" y="3322737"/>
            <a:ext cx="9525" cy="381000"/>
          </a:xfrm>
          <a:prstGeom prst="rect">
            <a:avLst/>
          </a:prstGeom>
          <a:solidFill>
            <a:srgbClr val="BC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2016" y="3466090"/>
            <a:ext cx="94293" cy="94293"/>
          </a:xfrm>
          <a:prstGeom prst="rect">
            <a:avLst/>
          </a:prstGeom>
          <a:solidFill>
            <a:srgbClr val="BC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6750" y="6023074"/>
            <a:ext cx="19050" cy="721965"/>
          </a:xfrm>
          <a:prstGeom prst="rect">
            <a:avLst/>
          </a:prstGeom>
          <a:solidFill>
            <a:srgbClr val="BC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6750" y="9315450"/>
            <a:ext cx="8953500" cy="9525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4914" y="9527452"/>
            <a:ext cx="80822" cy="80822"/>
          </a:xfrm>
          <a:prstGeom prst="rect">
            <a:avLst/>
          </a:prstGeom>
          <a:solidFill>
            <a:srgbClr val="BC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3814" y="795338"/>
            <a:ext cx="742236" cy="1428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125" i="0" b="1" spc="45">
                <a:solidFill>
                  <a:srgbClr val="1A1714"/>
                </a:solidFill>
                <a:latin typeface="Archivo"/>
                <a:ea typeface="Archivo"/>
                <a:cs typeface="Archivo"/>
              </a:rPr>
              <a:t>SM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0150" y="723900"/>
            <a:ext cx="2764869" cy="1428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125" i="0" b="1" spc="45">
                <a:solidFill>
                  <a:srgbClr val="1A1714"/>
                </a:solidFill>
                <a:latin typeface="Archivo"/>
                <a:ea typeface="Archivo"/>
                <a:cs typeface="Archivo"/>
              </a:rPr>
              <a:t>STUDIO MAEVE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0150" y="923925"/>
            <a:ext cx="2764869" cy="857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00" i="0" b="0" spc="108">
                <a:solidFill>
                  <a:srgbClr val="8A7E6F"/>
                </a:solidFill>
                <a:latin typeface="Space Mono"/>
                <a:ea typeface="Space Mono"/>
                <a:cs typeface="Space Mono"/>
              </a:rPr>
              <a:t>INTERIOR DESIGN &amp; STYLING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50325" y="814388"/>
            <a:ext cx="2092881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75">
                <a:solidFill>
                  <a:srgbClr val="8A7E6F"/>
                </a:solidFill>
                <a:latin typeface="Space Mono"/>
                <a:ea typeface="Space Mono"/>
                <a:cs typeface="Space Mono"/>
              </a:rPr>
              <a:t>08 · STYLING TIP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6800" y="3446562"/>
            <a:ext cx="3944064" cy="1333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00" i="0" b="1" spc="198">
                <a:solidFill>
                  <a:srgbClr val="BC5B36"/>
                </a:solidFill>
                <a:latin typeface="Archivo"/>
                <a:ea typeface="Archivo"/>
                <a:cs typeface="Archivo"/>
              </a:rPr>
              <a:t>TIP OF THE WEEK · STYLING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750" y="3989487"/>
            <a:ext cx="8953500" cy="170973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2000"/>
              </a:lnSpc>
            </a:pPr>
            <a:r>
              <a:rPr sz="6600" i="1" b="0">
                <a:solidFill>
                  <a:srgbClr val="1A1714"/>
                </a:solidFill>
                <a:latin typeface="Fraunces"/>
                <a:ea typeface="Fraunces"/>
                <a:cs typeface="Fraunces"/>
              </a:rPr>
              <a:t>Start with the rug, then build the room.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3450" y="6023074"/>
            <a:ext cx="6858000" cy="72196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8000"/>
              </a:lnSpc>
            </a:pPr>
            <a:r>
              <a:rPr sz="1200" i="0" b="0">
                <a:solidFill>
                  <a:srgbClr val="2A2622"/>
                </a:solidFill>
                <a:latin typeface="Archivo"/>
                <a:ea typeface="Archivo"/>
                <a:cs typeface="Archivo"/>
              </a:rPr>
              <a:t>A great rug anchors the whole room and sets the palette for everything else. Buy the largest one the space allows — the front legs of every seat should land on it. Get this right and the rest of the room almost styles itself.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6750" y="7030789"/>
            <a:ext cx="14706600" cy="1428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75" i="0" b="0">
                <a:solidFill>
                  <a:srgbClr val="8A7E6F"/>
                </a:solidFill>
                <a:latin typeface="Archivo"/>
                <a:ea typeface="Archivo"/>
                <a:cs typeface="Archivo"/>
              </a:rPr>
              <a:t>— A note from Maeve Sullivan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675" y="9515475"/>
            <a:ext cx="3865245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120">
                <a:solidFill>
                  <a:srgbClr val="2A2622"/>
                </a:solidFill>
                <a:latin typeface="Space Mono"/>
                <a:ea typeface="Space Mono"/>
                <a:cs typeface="Space Mono"/>
              </a:rPr>
              <a:t>@STUDIOMAEVE · STUDIOMAEVE.COM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10141" y="9515475"/>
            <a:ext cx="2157174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1" spc="165">
                <a:solidFill>
                  <a:srgbClr val="BC5B36"/>
                </a:solidFill>
                <a:latin typeface="Archivo"/>
                <a:ea typeface="Archivo"/>
                <a:cs typeface="Archivo"/>
              </a:rPr>
              <a:t>SAVE FOR LATER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