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00" cy="1005840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393192"/>
            <a:ext cx="2286" cy="18288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4872" y="1026644"/>
            <a:ext cx="45261" cy="45261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57200" y="717804"/>
            <a:ext cx="6858000" cy="0"/>
          </a:xfrm>
          <a:prstGeom prst="line">
            <a:avLst/>
          </a:prstGeom>
          <a:ln w="6350">
            <a:solidFill>
              <a:srgbClr val="C0B6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457200" y="365760"/>
            <a:ext cx="237744" cy="237744"/>
          </a:xfrm>
          <a:prstGeom prst="rect">
            <a:avLst/>
          </a:prstGeom>
          <a:noFill/>
          <a:ln w="635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946404"/>
            <a:ext cx="1219867" cy="205740"/>
          </a:xfrm>
          <a:prstGeom prst="rect">
            <a:avLst/>
          </a:prstGeom>
          <a:noFill/>
          <a:ln w="63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228064"/>
            <a:ext cx="164592" cy="164592"/>
          </a:xfrm>
          <a:prstGeom prst="rect">
            <a:avLst/>
          </a:prstGeom>
          <a:noFill/>
          <a:ln w="63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537103"/>
            <a:ext cx="164592" cy="164592"/>
          </a:xfrm>
          <a:prstGeom prst="rect">
            <a:avLst/>
          </a:prstGeom>
          <a:noFill/>
          <a:ln w="63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846141"/>
            <a:ext cx="164592" cy="164592"/>
          </a:xfrm>
          <a:prstGeom prst="rect">
            <a:avLst/>
          </a:prstGeom>
          <a:noFill/>
          <a:ln w="63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3155180"/>
            <a:ext cx="164592" cy="164592"/>
          </a:xfrm>
          <a:prstGeom prst="rect">
            <a:avLst/>
          </a:prstGeom>
          <a:noFill/>
          <a:ln w="63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3464219"/>
            <a:ext cx="164592" cy="164592"/>
          </a:xfrm>
          <a:prstGeom prst="rect">
            <a:avLst/>
          </a:prstGeom>
          <a:noFill/>
          <a:ln w="63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936921"/>
            <a:ext cx="164592" cy="164592"/>
          </a:xfrm>
          <a:prstGeom prst="rect">
            <a:avLst/>
          </a:prstGeom>
          <a:noFill/>
          <a:ln w="63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4245959"/>
            <a:ext cx="164592" cy="164592"/>
          </a:xfrm>
          <a:prstGeom prst="rect">
            <a:avLst/>
          </a:prstGeom>
          <a:noFill/>
          <a:ln w="63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4554998"/>
            <a:ext cx="164592" cy="164592"/>
          </a:xfrm>
          <a:prstGeom prst="rect">
            <a:avLst/>
          </a:prstGeom>
          <a:noFill/>
          <a:ln w="63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4864036"/>
            <a:ext cx="164592" cy="164592"/>
          </a:xfrm>
          <a:prstGeom prst="rect">
            <a:avLst/>
          </a:prstGeom>
          <a:noFill/>
          <a:ln w="63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457200" y="9582912"/>
            <a:ext cx="6858000" cy="0"/>
          </a:xfrm>
          <a:prstGeom prst="line">
            <a:avLst/>
          </a:prstGeom>
          <a:ln w="6350">
            <a:solidFill>
              <a:srgbClr val="C0B6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57200" y="356616"/>
            <a:ext cx="265176" cy="26517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786" b="0" i="1" spc="31">
                <a:solidFill>
                  <a:srgbClr val="0A0A0A"/>
                </a:solidFill>
                <a:latin typeface="Playfair Display"/>
                <a:ea typeface="Playfair Display"/>
                <a:cs typeface="Playfair Display"/>
              </a:rPr>
              <a:t>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1822" y="406908"/>
            <a:ext cx="1910024" cy="16459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792" b="0" i="1" spc="3">
                <a:solidFill>
                  <a:srgbClr val="0A0A0A"/>
                </a:solidFill>
                <a:latin typeface="Playfair Display"/>
                <a:ea typeface="Playfair Display"/>
                <a:cs typeface="Playfair Display"/>
              </a:rPr>
              <a:t>Alexandra Monroe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62615" y="450342"/>
            <a:ext cx="2349865" cy="7772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00" b="1" i="0" spc="142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CHECKLIST 08 · CLOSING DAY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937260"/>
            <a:ext cx="1247299" cy="2331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540" b="1" i="0" spc="151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CLIENT HANDOUT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1261872"/>
            <a:ext cx="7955280" cy="45641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2000"/>
              </a:lnSpc>
            </a:pPr>
            <a:r>
              <a:rPr sz="3311" b="0" i="1" spc="-66">
                <a:solidFill>
                  <a:srgbClr val="0A0A0A"/>
                </a:solidFill>
                <a:latin typeface="Playfair Display"/>
                <a:ea typeface="Playfair Display"/>
                <a:cs typeface="Playfair Display"/>
              </a:rPr>
              <a:t>Closing Day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1764006"/>
            <a:ext cx="6355080" cy="19888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50000"/>
              </a:lnSpc>
            </a:pPr>
            <a:r>
              <a:rPr sz="900" b="0" i="0">
                <a:solidFill>
                  <a:srgbClr val="8A7D63"/>
                </a:solidFill>
                <a:latin typeface="Lato"/>
                <a:ea typeface="Lato"/>
                <a:cs typeface="Lato"/>
              </a:rPr>
              <a:t>Bring this to the table so nothing slows down your close.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" y="2209776"/>
            <a:ext cx="7690104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1A1A1A"/>
                </a:solidFill>
                <a:latin typeface="Lato"/>
                <a:ea typeface="Lato"/>
                <a:cs typeface="Lato"/>
              </a:rPr>
              <a:t>Bring government photo ID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" y="2518815"/>
            <a:ext cx="7690104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1A1A1A"/>
                </a:solidFill>
                <a:latin typeface="Lato"/>
                <a:ea typeface="Lato"/>
                <a:cs typeface="Lato"/>
              </a:rPr>
              <a:t>Bring certified funds / confirm wire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" y="2827853"/>
            <a:ext cx="7690104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1A1A1A"/>
                </a:solidFill>
                <a:latin typeface="Lato"/>
                <a:ea typeface="Lato"/>
                <a:cs typeface="Lato"/>
              </a:rPr>
              <a:t>Review final settlement statement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" y="3136892"/>
            <a:ext cx="7690104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1A1A1A"/>
                </a:solidFill>
                <a:latin typeface="Lato"/>
                <a:ea typeface="Lato"/>
                <a:cs typeface="Lato"/>
              </a:rPr>
              <a:t>Final walkthrough done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" y="3445931"/>
            <a:ext cx="7690104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1A1A1A"/>
                </a:solidFill>
                <a:latin typeface="Lato"/>
                <a:ea typeface="Lato"/>
                <a:cs typeface="Lato"/>
              </a:rPr>
              <a:t>Cashier's check or wire confirmed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376" y="3658957"/>
            <a:ext cx="7690104" cy="16823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40000"/>
              </a:lnSpc>
            </a:pPr>
            <a:r>
              <a:rPr sz="792" b="0" i="1">
                <a:solidFill>
                  <a:srgbClr val="8A7D63"/>
                </a:solidFill>
                <a:latin typeface="Lato"/>
                <a:ea typeface="Lato"/>
                <a:cs typeface="Lato"/>
              </a:rPr>
              <a:t>Verify wire instructions by phone — never trust emailed changes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2376" y="3918633"/>
            <a:ext cx="7690104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1A1A1A"/>
                </a:solidFill>
                <a:latin typeface="Lato"/>
                <a:ea typeface="Lato"/>
                <a:cs typeface="Lato"/>
              </a:rPr>
              <a:t>Sign documents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" y="4227671"/>
            <a:ext cx="7690104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1A1A1A"/>
                </a:solidFill>
                <a:latin typeface="Lato"/>
                <a:ea typeface="Lato"/>
                <a:cs typeface="Lato"/>
              </a:rPr>
              <a:t>Collect keys, remotes &amp; codes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2376" y="4536710"/>
            <a:ext cx="7690104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1A1A1A"/>
                </a:solidFill>
                <a:latin typeface="Lato"/>
                <a:ea typeface="Lato"/>
                <a:cs typeface="Lato"/>
              </a:rPr>
              <a:t>Confirm recording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2376" y="4845748"/>
            <a:ext cx="7690104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1A1A1A"/>
                </a:solidFill>
                <a:latin typeface="Lato"/>
                <a:ea typeface="Lato"/>
                <a:cs typeface="Lato"/>
              </a:rPr>
              <a:t>Save your closing packet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9678924"/>
            <a:ext cx="2503670" cy="7772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00" b="0" i="0" spc="126">
                <a:solidFill>
                  <a:srgbClr val="8A7D63"/>
                </a:solidFill>
                <a:latin typeface="Montserrat"/>
                <a:ea typeface="Montserrat"/>
                <a:cs typeface="Montserrat"/>
              </a:rPr>
              <a:t>THE REAL ESTATE CHECKLIST PACK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860" y="9669780"/>
            <a:ext cx="2102620" cy="9144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00" b="1" i="0" spc="126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ALEXANDRAMONROE.COM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