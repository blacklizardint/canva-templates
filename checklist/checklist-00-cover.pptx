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29904"/>
            <a:ext cx="292608" cy="457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08192"/>
            <a:ext cx="2608755" cy="4572"/>
          </a:xfrm>
          <a:prstGeom prst="rect">
            <a:avLst/>
          </a:prstGeom>
          <a:solidFill>
            <a:srgbClr val="6A5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06445" y="6108192"/>
            <a:ext cx="2608755" cy="4572"/>
          </a:xfrm>
          <a:prstGeom prst="rect">
            <a:avLst/>
          </a:prstGeom>
          <a:solidFill>
            <a:srgbClr val="6A5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3E3D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F5F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" y="6643116"/>
            <a:ext cx="3246120" cy="0"/>
          </a:xfrm>
          <a:prstGeom prst="line">
            <a:avLst/>
          </a:prstGeom>
          <a:ln w="6350">
            <a:solidFill>
              <a:srgbClr val="262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" y="6963156"/>
            <a:ext cx="3246120" cy="0"/>
          </a:xfrm>
          <a:prstGeom prst="line">
            <a:avLst/>
          </a:prstGeom>
          <a:ln w="6350">
            <a:solidFill>
              <a:srgbClr val="262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" y="7283196"/>
            <a:ext cx="3246120" cy="0"/>
          </a:xfrm>
          <a:prstGeom prst="line">
            <a:avLst/>
          </a:prstGeom>
          <a:ln w="6350">
            <a:solidFill>
              <a:srgbClr val="262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" y="7603236"/>
            <a:ext cx="3246120" cy="0"/>
          </a:xfrm>
          <a:prstGeom prst="line">
            <a:avLst/>
          </a:prstGeom>
          <a:ln w="6350">
            <a:solidFill>
              <a:srgbClr val="262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7923276"/>
            <a:ext cx="3246120" cy="0"/>
          </a:xfrm>
          <a:prstGeom prst="line">
            <a:avLst/>
          </a:prstGeom>
          <a:ln w="6350">
            <a:solidFill>
              <a:srgbClr val="262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8243316"/>
            <a:ext cx="3246120" cy="0"/>
          </a:xfrm>
          <a:prstGeom prst="line">
            <a:avLst/>
          </a:prstGeom>
          <a:ln w="6350">
            <a:solidFill>
              <a:srgbClr val="262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69080" y="6643116"/>
            <a:ext cx="3246120" cy="0"/>
          </a:xfrm>
          <a:prstGeom prst="line">
            <a:avLst/>
          </a:prstGeom>
          <a:ln w="6350">
            <a:solidFill>
              <a:srgbClr val="262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69080" y="6963156"/>
            <a:ext cx="3246120" cy="0"/>
          </a:xfrm>
          <a:prstGeom prst="line">
            <a:avLst/>
          </a:prstGeom>
          <a:ln w="6350">
            <a:solidFill>
              <a:srgbClr val="262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69080" y="7283196"/>
            <a:ext cx="3246120" cy="0"/>
          </a:xfrm>
          <a:prstGeom prst="line">
            <a:avLst/>
          </a:prstGeom>
          <a:ln w="6350">
            <a:solidFill>
              <a:srgbClr val="262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69080" y="7603236"/>
            <a:ext cx="3246120" cy="0"/>
          </a:xfrm>
          <a:prstGeom prst="line">
            <a:avLst/>
          </a:prstGeom>
          <a:ln w="6350">
            <a:solidFill>
              <a:srgbClr val="262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69080" y="7923276"/>
            <a:ext cx="3246120" cy="0"/>
          </a:xfrm>
          <a:prstGeom prst="line">
            <a:avLst/>
          </a:prstGeom>
          <a:ln w="6350">
            <a:solidFill>
              <a:srgbClr val="262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3938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356616"/>
            <a:ext cx="265176" cy="265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6" b="0" i="1" spc="31">
                <a:solidFill>
                  <a:srgbClr val="F5F0E8"/>
                </a:solidFill>
                <a:latin typeface="Playfair Display"/>
                <a:ea typeface="Playfair Display"/>
                <a:cs typeface="Playfair Display"/>
              </a:rPr>
              <a:t>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822" y="406908"/>
            <a:ext cx="191002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F5F0E8"/>
                </a:solidFill>
                <a:latin typeface="Playfair Display"/>
                <a:ea typeface="Playfair Display"/>
                <a:cs typeface="Playfair Display"/>
              </a:rPr>
              <a:t>Alexandra Monroe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801" y="450342"/>
            <a:ext cx="2003679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00 / 12 — THE 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101852"/>
            <a:ext cx="7955280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87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LUXE AGENT · FOR REALTORS &amp; THEIR CLIENTS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44168"/>
            <a:ext cx="7955280" cy="4048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96000"/>
              </a:lnSpc>
            </a:pPr>
            <a:r>
              <a:rPr sz="3095" b="0" i="1">
                <a:solidFill>
                  <a:srgbClr val="F5F0E8"/>
                </a:solidFill>
                <a:latin typeface="Playfair Display"/>
                <a:ea typeface="Playfair Display"/>
                <a:cs typeface="Playfair Display"/>
              </a:rPr>
              <a:t>The Real Estate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721572"/>
            <a:ext cx="7955280" cy="7493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94000"/>
              </a:lnSpc>
            </a:pPr>
            <a:r>
              <a:rPr sz="6048" b="1" i="0" spc="-120">
                <a:solidFill>
                  <a:srgbClr val="F5F0E8"/>
                </a:solidFill>
                <a:latin typeface="Playfair Display"/>
                <a:ea typeface="Playfair Display"/>
                <a:cs typeface="Playfair Display"/>
              </a:rPr>
              <a:t>Checklist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443520"/>
            <a:ext cx="7955280" cy="5212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887" b="0" i="1">
                <a:solidFill>
                  <a:srgbClr val="C9A84C"/>
                </a:solidFill>
                <a:latin typeface="Playfair Display"/>
                <a:ea typeface="Playfair Display"/>
                <a:cs typeface="Playfair Display"/>
              </a:rPr>
              <a:t>Pack.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138464"/>
            <a:ext cx="5010912" cy="4100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971" b="0" i="0">
                <a:solidFill>
                  <a:srgbClr val="F5F0E8"/>
                </a:solidFill>
                <a:latin typeface="Lato"/>
                <a:ea typeface="Lato"/>
                <a:cs typeface="Lato"/>
              </a:rPr>
              <a:t>Twelve done-for-you checklists — from pre-listing to keys-in-hand. A polished mix of agent workflows and client-facing handouts, ready to edit, brand, and print.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84827" y="6071616"/>
            <a:ext cx="2500027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87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WHAT'S INSIDE · 12 PAGES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87084"/>
            <a:ext cx="1298448" cy="1965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C9A84C"/>
                </a:solidFill>
                <a:latin typeface="Playfair Display"/>
                <a:ea typeface="Playfair Display"/>
                <a:cs typeface="Playfair Display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6405372"/>
            <a:ext cx="3711535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5F0E8"/>
                </a:solidFill>
                <a:latin typeface="Playfair Display"/>
                <a:ea typeface="Playfair Display"/>
                <a:cs typeface="Playfair Display"/>
              </a:rPr>
              <a:t>Pre-Listing Checklist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5503" y="6473952"/>
            <a:ext cx="1345097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707124"/>
            <a:ext cx="1298448" cy="1965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C9A84C"/>
                </a:solidFill>
                <a:latin typeface="Playfair Display"/>
                <a:ea typeface="Playfair Display"/>
                <a:cs typeface="Playfair Display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725412"/>
            <a:ext cx="3699462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5F0E8"/>
                </a:solidFill>
                <a:latin typeface="Playfair Display"/>
                <a:ea typeface="Playfair Display"/>
                <a:cs typeface="Playfair Display"/>
              </a:rPr>
              <a:t>Listing Prep for Sellers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43430" y="6793992"/>
            <a:ext cx="135717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CLIENT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027164"/>
            <a:ext cx="1298448" cy="1965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C9A84C"/>
                </a:solidFill>
                <a:latin typeface="Playfair Display"/>
                <a:ea typeface="Playfair Display"/>
                <a:cs typeface="Playfair Display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7045452"/>
            <a:ext cx="3711535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5F0E8"/>
                </a:solidFill>
                <a:latin typeface="Playfair Display"/>
                <a:ea typeface="Playfair Display"/>
                <a:cs typeface="Playfair Display"/>
              </a:rPr>
              <a:t>Buyer Consultation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5503" y="7114032"/>
            <a:ext cx="1345097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7347204"/>
            <a:ext cx="1298448" cy="1965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C9A84C"/>
                </a:solidFill>
                <a:latin typeface="Playfair Display"/>
                <a:ea typeface="Playfair Display"/>
                <a:cs typeface="Playfair Display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7365492"/>
            <a:ext cx="3699462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5F0E8"/>
                </a:solidFill>
                <a:latin typeface="Playfair Display"/>
                <a:ea typeface="Playfair Display"/>
                <a:cs typeface="Playfair Display"/>
              </a:rPr>
              <a:t>Showing Scorecard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43430" y="7434072"/>
            <a:ext cx="135717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CLIENT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7667244"/>
            <a:ext cx="1298448" cy="1965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C9A84C"/>
                </a:solidFill>
                <a:latin typeface="Playfair Display"/>
                <a:ea typeface="Playfair Display"/>
                <a:cs typeface="Playfair Display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7685532"/>
            <a:ext cx="3711535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5F0E8"/>
                </a:solidFill>
                <a:latin typeface="Playfair Display"/>
                <a:ea typeface="Playfair Display"/>
                <a:cs typeface="Playfair Display"/>
              </a:rPr>
              <a:t>Offer &amp; Under-Contract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55503" y="7754112"/>
            <a:ext cx="1345097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7987284"/>
            <a:ext cx="1298448" cy="1965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C9A84C"/>
                </a:solidFill>
                <a:latin typeface="Playfair Display"/>
                <a:ea typeface="Playfair Display"/>
                <a:cs typeface="Playfair Display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8005572"/>
            <a:ext cx="3711535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5F0E8"/>
                </a:solidFill>
                <a:latin typeface="Playfair Display"/>
                <a:ea typeface="Playfair Display"/>
                <a:cs typeface="Playfair Display"/>
              </a:rPr>
              <a:t>Seller Under-Contract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55503" y="8074152"/>
            <a:ext cx="1345097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9080" y="6387084"/>
            <a:ext cx="1298448" cy="1965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C9A84C"/>
                </a:solidFill>
                <a:latin typeface="Playfair Display"/>
                <a:ea typeface="Playfair Display"/>
                <a:cs typeface="Playfair Display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61688" y="6405372"/>
            <a:ext cx="3711535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5F0E8"/>
                </a:solidFill>
                <a:latin typeface="Playfair Display"/>
                <a:ea typeface="Playfair Display"/>
                <a:cs typeface="Playfair Display"/>
              </a:rPr>
              <a:t>Open House Prep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67383" y="6473952"/>
            <a:ext cx="1345097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69080" y="6707124"/>
            <a:ext cx="1298448" cy="1965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C9A84C"/>
                </a:solidFill>
                <a:latin typeface="Playfair Display"/>
                <a:ea typeface="Playfair Display"/>
                <a:cs typeface="Playfair Display"/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61688" y="6725412"/>
            <a:ext cx="3699462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5F0E8"/>
                </a:solidFill>
                <a:latin typeface="Playfair Display"/>
                <a:ea typeface="Playfair Display"/>
                <a:cs typeface="Playfair Display"/>
              </a:rPr>
              <a:t>Closing Day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5310" y="6793992"/>
            <a:ext cx="135717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CLIENT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69080" y="7027164"/>
            <a:ext cx="1298448" cy="1965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C9A84C"/>
                </a:solidFill>
                <a:latin typeface="Playfair Display"/>
                <a:ea typeface="Playfair Display"/>
                <a:cs typeface="Playfair Display"/>
              </a:rPr>
              <a:t>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61688" y="7045452"/>
            <a:ext cx="3699462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5F0E8"/>
                </a:solidFill>
                <a:latin typeface="Playfair Display"/>
                <a:ea typeface="Playfair Display"/>
                <a:cs typeface="Playfair Display"/>
              </a:rPr>
              <a:t>Moving Checklist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55310" y="7114032"/>
            <a:ext cx="135717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CLIENT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69080" y="7347204"/>
            <a:ext cx="1298448" cy="1965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C9A84C"/>
                </a:solidFill>
                <a:latin typeface="Playfair Display"/>
                <a:ea typeface="Playfair Display"/>
                <a:cs typeface="Playfair Display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61688" y="7365492"/>
            <a:ext cx="3699462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5F0E8"/>
                </a:solidFill>
                <a:latin typeface="Playfair Display"/>
                <a:ea typeface="Playfair Display"/>
                <a:cs typeface="Playfair Display"/>
              </a:rPr>
              <a:t>First 30 Days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5310" y="7434072"/>
            <a:ext cx="135717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CLIENT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9080" y="7667244"/>
            <a:ext cx="1298448" cy="1965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C9A84C"/>
                </a:solidFill>
                <a:latin typeface="Playfair Display"/>
                <a:ea typeface="Playfair Display"/>
                <a:cs typeface="Playfair Display"/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61688" y="7685532"/>
            <a:ext cx="3570160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5F0E8"/>
                </a:solidFill>
                <a:latin typeface="Playfair Display"/>
                <a:ea typeface="Playfair Display"/>
                <a:cs typeface="Playfair Display"/>
              </a:rPr>
              <a:t>Build Your Own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26008" y="7754112"/>
            <a:ext cx="1486472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TEMPLATE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9678924"/>
            <a:ext cx="2503670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F5F0E8"/>
                </a:solidFill>
                <a:latin typeface="Montserrat"/>
                <a:ea typeface="Montserrat"/>
                <a:cs typeface="Montserrat"/>
              </a:rPr>
              <a:t>THE REAL ESTATE CHECKLIST PACK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860" y="9669780"/>
            <a:ext cx="210262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ALEXANDRAMONROE.COM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