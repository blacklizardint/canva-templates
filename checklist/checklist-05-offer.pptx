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772400" cy="10058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772400" cy="1005840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393192"/>
            <a:ext cx="2286" cy="18288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946404"/>
            <a:ext cx="1297591" cy="196596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0300" y="1022072"/>
            <a:ext cx="45261" cy="45261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457200" y="717804"/>
            <a:ext cx="6858000" cy="0"/>
          </a:xfrm>
          <a:prstGeom prst="line">
            <a:avLst/>
          </a:prstGeom>
          <a:ln w="6350">
            <a:solidFill>
              <a:srgbClr val="C0B6A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457200" y="365760"/>
            <a:ext cx="237744" cy="237744"/>
          </a:xfrm>
          <a:prstGeom prst="rect">
            <a:avLst/>
          </a:prstGeom>
          <a:noFill/>
          <a:ln w="6350">
            <a:solidFill>
              <a:srgbClr val="0A0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2218920"/>
            <a:ext cx="164592" cy="164592"/>
          </a:xfrm>
          <a:prstGeom prst="rect">
            <a:avLst/>
          </a:prstGeom>
          <a:noFill/>
          <a:ln w="63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014216" y="2218920"/>
            <a:ext cx="164592" cy="164592"/>
          </a:xfrm>
          <a:prstGeom prst="rect">
            <a:avLst/>
          </a:prstGeom>
          <a:noFill/>
          <a:ln w="63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2527959"/>
            <a:ext cx="164592" cy="164592"/>
          </a:xfrm>
          <a:prstGeom prst="rect">
            <a:avLst/>
          </a:prstGeom>
          <a:noFill/>
          <a:ln w="63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014216" y="2527959"/>
            <a:ext cx="164592" cy="164592"/>
          </a:xfrm>
          <a:prstGeom prst="rect">
            <a:avLst/>
          </a:prstGeom>
          <a:noFill/>
          <a:ln w="63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2836997"/>
            <a:ext cx="164592" cy="164592"/>
          </a:xfrm>
          <a:prstGeom prst="rect">
            <a:avLst/>
          </a:prstGeom>
          <a:noFill/>
          <a:ln w="63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014216" y="2836997"/>
            <a:ext cx="164592" cy="164592"/>
          </a:xfrm>
          <a:prstGeom prst="rect">
            <a:avLst/>
          </a:prstGeom>
          <a:noFill/>
          <a:ln w="63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3146036"/>
            <a:ext cx="164592" cy="164592"/>
          </a:xfrm>
          <a:prstGeom prst="rect">
            <a:avLst/>
          </a:prstGeom>
          <a:noFill/>
          <a:ln w="63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014216" y="3146036"/>
            <a:ext cx="164592" cy="164592"/>
          </a:xfrm>
          <a:prstGeom prst="rect">
            <a:avLst/>
          </a:prstGeom>
          <a:noFill/>
          <a:ln w="63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3455075"/>
            <a:ext cx="164592" cy="164592"/>
          </a:xfrm>
          <a:prstGeom prst="rect">
            <a:avLst/>
          </a:prstGeom>
          <a:noFill/>
          <a:ln w="63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014216" y="3455075"/>
            <a:ext cx="164592" cy="164592"/>
          </a:xfrm>
          <a:prstGeom prst="rect">
            <a:avLst/>
          </a:prstGeom>
          <a:noFill/>
          <a:ln w="63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3764113"/>
            <a:ext cx="164592" cy="164592"/>
          </a:xfrm>
          <a:prstGeom prst="rect">
            <a:avLst/>
          </a:prstGeom>
          <a:noFill/>
          <a:ln w="63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" name="Connector 18"/>
          <p:cNvCxnSpPr/>
          <p:nvPr/>
        </p:nvCxnSpPr>
        <p:spPr>
          <a:xfrm>
            <a:off x="457200" y="9582912"/>
            <a:ext cx="6858000" cy="0"/>
          </a:xfrm>
          <a:prstGeom prst="line">
            <a:avLst/>
          </a:prstGeom>
          <a:ln w="6350">
            <a:solidFill>
              <a:srgbClr val="C0B6A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457200" y="356616"/>
            <a:ext cx="265176" cy="26517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786" b="0" i="1" spc="31">
                <a:solidFill>
                  <a:srgbClr val="0A0A0A"/>
                </a:solidFill>
                <a:latin typeface="Playfair Display"/>
                <a:ea typeface="Playfair Display"/>
                <a:cs typeface="Playfair Display"/>
              </a:rPr>
              <a:t>AM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1822" y="406908"/>
            <a:ext cx="1910024" cy="16459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/>
            <a:r>
              <a:rPr sz="792" b="0" i="1" spc="3">
                <a:solidFill>
                  <a:srgbClr val="0A0A0A"/>
                </a:solidFill>
                <a:latin typeface="Playfair Display"/>
                <a:ea typeface="Playfair Display"/>
                <a:cs typeface="Playfair Display"/>
              </a:rPr>
              <a:t>Alexandra Monroe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58043" y="450342"/>
            <a:ext cx="2354437" cy="7772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400" b="1" i="0" spc="142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CHECKLIST 05 · BUYER OFFER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937260"/>
            <a:ext cx="1325023" cy="2240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540" b="1" i="0" spc="151">
                <a:solidFill>
                  <a:srgbClr val="0A0A0A"/>
                </a:solidFill>
                <a:latin typeface="Montserrat"/>
                <a:ea typeface="Montserrat"/>
                <a:cs typeface="Montserrat"/>
              </a:rPr>
              <a:t>AGENT WORKFLOW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1252728"/>
            <a:ext cx="7955280" cy="45641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2000"/>
              </a:lnSpc>
            </a:pPr>
            <a:r>
              <a:rPr sz="3311" b="0" i="1" spc="-66">
                <a:solidFill>
                  <a:srgbClr val="0A0A0A"/>
                </a:solidFill>
                <a:latin typeface="Playfair Display"/>
                <a:ea typeface="Playfair Display"/>
                <a:cs typeface="Playfair Display"/>
              </a:rPr>
              <a:t>Offer &amp; Under-Contract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1754862"/>
            <a:ext cx="6355080" cy="19888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50000"/>
              </a:lnSpc>
            </a:pPr>
            <a:r>
              <a:rPr sz="900" b="0" i="0">
                <a:solidFill>
                  <a:srgbClr val="8A7D63"/>
                </a:solidFill>
                <a:latin typeface="Lato"/>
                <a:ea typeface="Lato"/>
                <a:cs typeface="Lato"/>
              </a:rPr>
              <a:t>Keep a buyer deal on track from offer to clear-to-close.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2376" y="2200632"/>
            <a:ext cx="4133088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1A1A1A"/>
                </a:solidFill>
                <a:latin typeface="Lato"/>
                <a:ea typeface="Lato"/>
                <a:cs typeface="Lato"/>
              </a:rPr>
              <a:t>Submit offer &amp; disclosures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79392" y="2200632"/>
            <a:ext cx="4133088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1A1A1A"/>
                </a:solidFill>
                <a:latin typeface="Lato"/>
                <a:ea typeface="Lato"/>
                <a:cs typeface="Lato"/>
              </a:rPr>
              <a:t>Earnest money deposited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2376" y="2509671"/>
            <a:ext cx="4133088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1A1A1A"/>
                </a:solidFill>
                <a:latin typeface="Lato"/>
                <a:ea typeface="Lato"/>
                <a:cs typeface="Lato"/>
              </a:rPr>
              <a:t>Acceptance &amp; timelines logged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79392" y="2509671"/>
            <a:ext cx="4133088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1A1A1A"/>
                </a:solidFill>
                <a:latin typeface="Lato"/>
                <a:ea typeface="Lato"/>
                <a:cs typeface="Lato"/>
              </a:rPr>
              <a:t>Order inspection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2376" y="2818709"/>
            <a:ext cx="4133088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1A1A1A"/>
                </a:solidFill>
                <a:latin typeface="Lato"/>
                <a:ea typeface="Lato"/>
                <a:cs typeface="Lato"/>
              </a:rPr>
              <a:t>Negotiate repairs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79392" y="2818709"/>
            <a:ext cx="4133088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1A1A1A"/>
                </a:solidFill>
                <a:latin typeface="Lato"/>
                <a:ea typeface="Lato"/>
                <a:cs typeface="Lato"/>
              </a:rPr>
              <a:t>Appraisal ordered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2376" y="3127748"/>
            <a:ext cx="4133088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1A1A1A"/>
                </a:solidFill>
                <a:latin typeface="Lato"/>
                <a:ea typeface="Lato"/>
                <a:cs typeface="Lato"/>
              </a:rPr>
              <a:t>Loan application complete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279392" y="3127748"/>
            <a:ext cx="4133088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1A1A1A"/>
                </a:solidFill>
                <a:latin typeface="Lato"/>
                <a:ea typeface="Lato"/>
                <a:cs typeface="Lato"/>
              </a:rPr>
              <a:t>Title &amp; survey ordered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2376" y="3436787"/>
            <a:ext cx="4133088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1A1A1A"/>
                </a:solidFill>
                <a:latin typeface="Lato"/>
                <a:ea typeface="Lato"/>
                <a:cs typeface="Lato"/>
              </a:rPr>
              <a:t>Homeowner's insurance bound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79392" y="3436787"/>
            <a:ext cx="4133088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1A1A1A"/>
                </a:solidFill>
                <a:latin typeface="Lato"/>
                <a:ea typeface="Lato"/>
                <a:cs typeface="Lato"/>
              </a:rPr>
              <a:t>Final walkthrough scheduled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2376" y="3745825"/>
            <a:ext cx="4133088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1A1A1A"/>
                </a:solidFill>
                <a:latin typeface="Lato"/>
                <a:ea typeface="Lato"/>
                <a:cs typeface="Lato"/>
              </a:rPr>
              <a:t>Clear to close confirmed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9678924"/>
            <a:ext cx="2503670" cy="7772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400" b="0" i="0" spc="126">
                <a:solidFill>
                  <a:srgbClr val="8A7D63"/>
                </a:solidFill>
                <a:latin typeface="Montserrat"/>
                <a:ea typeface="Montserrat"/>
                <a:cs typeface="Montserrat"/>
              </a:rPr>
              <a:t>THE REAL ESTATE CHECKLIST PACK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09860" y="9669780"/>
            <a:ext cx="2102620" cy="9144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400" b="1" i="0" spc="126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ALEXANDRAMONROE.COM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