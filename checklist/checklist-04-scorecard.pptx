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10058400"/>
          </a:xfrm>
          <a:prstGeom prst="rect">
            <a:avLst/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393192"/>
            <a:ext cx="2286" cy="18288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4872" y="1026644"/>
            <a:ext cx="45261" cy="45261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342364"/>
            <a:ext cx="3172968" cy="4572"/>
          </a:xfrm>
          <a:prstGeom prst="rect">
            <a:avLst/>
          </a:prstGeom>
          <a:solidFill>
            <a:srgbClr val="8A7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86200" y="2342364"/>
            <a:ext cx="1586484" cy="4572"/>
          </a:xfrm>
          <a:prstGeom prst="rect">
            <a:avLst/>
          </a:prstGeom>
          <a:solidFill>
            <a:srgbClr val="8A7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28716" y="2342364"/>
            <a:ext cx="1586484" cy="4572"/>
          </a:xfrm>
          <a:prstGeom prst="rect">
            <a:avLst/>
          </a:prstGeom>
          <a:solidFill>
            <a:srgbClr val="8A7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943100" y="2625828"/>
            <a:ext cx="5372100" cy="457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78613" y="4804672"/>
            <a:ext cx="5836587" cy="457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457200" y="717804"/>
            <a:ext cx="6858000" cy="0"/>
          </a:xfrm>
          <a:prstGeom prst="line">
            <a:avLst/>
          </a:prstGeom>
          <a:ln w="6350">
            <a:solidFill>
              <a:srgbClr val="C0B6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457200" y="365760"/>
            <a:ext cx="237744" cy="237744"/>
          </a:xfrm>
          <a:prstGeom prst="rect">
            <a:avLst/>
          </a:prstGeom>
          <a:noFill/>
          <a:ln w="6350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946404"/>
            <a:ext cx="1219867" cy="205740"/>
          </a:xfrm>
          <a:prstGeom prst="rect">
            <a:avLst/>
          </a:prstGeom>
          <a:noFill/>
          <a:ln w="63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790420"/>
            <a:ext cx="164592" cy="164592"/>
          </a:xfrm>
          <a:prstGeom prst="rect">
            <a:avLst/>
          </a:prstGeom>
          <a:noFill/>
          <a:ln w="63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014216" y="2790420"/>
            <a:ext cx="164592" cy="164592"/>
          </a:xfrm>
          <a:prstGeom prst="rect">
            <a:avLst/>
          </a:prstGeom>
          <a:noFill/>
          <a:ln w="63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099459"/>
            <a:ext cx="164592" cy="164592"/>
          </a:xfrm>
          <a:prstGeom prst="rect">
            <a:avLst/>
          </a:prstGeom>
          <a:noFill/>
          <a:ln w="63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014216" y="3099459"/>
            <a:ext cx="164592" cy="164592"/>
          </a:xfrm>
          <a:prstGeom prst="rect">
            <a:avLst/>
          </a:prstGeom>
          <a:noFill/>
          <a:ln w="63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408497"/>
            <a:ext cx="164592" cy="164592"/>
          </a:xfrm>
          <a:prstGeom prst="rect">
            <a:avLst/>
          </a:prstGeom>
          <a:noFill/>
          <a:ln w="63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014216" y="3408497"/>
            <a:ext cx="164592" cy="164592"/>
          </a:xfrm>
          <a:prstGeom prst="rect">
            <a:avLst/>
          </a:prstGeom>
          <a:noFill/>
          <a:ln w="63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717536"/>
            <a:ext cx="164592" cy="164592"/>
          </a:xfrm>
          <a:prstGeom prst="rect">
            <a:avLst/>
          </a:prstGeom>
          <a:noFill/>
          <a:ln w="63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014216" y="3717536"/>
            <a:ext cx="164592" cy="164592"/>
          </a:xfrm>
          <a:prstGeom prst="rect">
            <a:avLst/>
          </a:prstGeom>
          <a:noFill/>
          <a:ln w="63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4026575"/>
            <a:ext cx="164592" cy="164592"/>
          </a:xfrm>
          <a:prstGeom prst="rect">
            <a:avLst/>
          </a:prstGeom>
          <a:noFill/>
          <a:ln w="63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014216" y="4026575"/>
            <a:ext cx="164592" cy="164592"/>
          </a:xfrm>
          <a:prstGeom prst="rect">
            <a:avLst/>
          </a:prstGeom>
          <a:noFill/>
          <a:ln w="63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4335613"/>
            <a:ext cx="164592" cy="164592"/>
          </a:xfrm>
          <a:prstGeom prst="rect">
            <a:avLst/>
          </a:prstGeom>
          <a:noFill/>
          <a:ln w="63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014216" y="4335613"/>
            <a:ext cx="164592" cy="164592"/>
          </a:xfrm>
          <a:prstGeom prst="rect">
            <a:avLst/>
          </a:prstGeom>
          <a:noFill/>
          <a:ln w="63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57200" y="4969264"/>
            <a:ext cx="438912" cy="438912"/>
          </a:xfrm>
          <a:prstGeom prst="ellipse">
            <a:avLst/>
          </a:prstGeom>
          <a:noFill/>
          <a:ln w="6350">
            <a:solidFill>
              <a:srgbClr val="8A7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78408" y="4969264"/>
            <a:ext cx="438912" cy="438912"/>
          </a:xfrm>
          <a:prstGeom prst="ellipse">
            <a:avLst/>
          </a:prstGeom>
          <a:noFill/>
          <a:ln w="6350">
            <a:solidFill>
              <a:srgbClr val="8A7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499616" y="4969264"/>
            <a:ext cx="438912" cy="438912"/>
          </a:xfrm>
          <a:prstGeom prst="ellipse">
            <a:avLst/>
          </a:prstGeom>
          <a:noFill/>
          <a:ln w="6350">
            <a:solidFill>
              <a:srgbClr val="8A7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020824" y="4969264"/>
            <a:ext cx="438912" cy="438912"/>
          </a:xfrm>
          <a:prstGeom prst="ellipse">
            <a:avLst/>
          </a:prstGeom>
          <a:noFill/>
          <a:ln w="6350">
            <a:solidFill>
              <a:srgbClr val="8A7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542032" y="4969264"/>
            <a:ext cx="438912" cy="438912"/>
          </a:xfrm>
          <a:prstGeom prst="ellipse">
            <a:avLst/>
          </a:prstGeom>
          <a:noFill/>
          <a:ln w="6350">
            <a:solidFill>
              <a:srgbClr val="8A7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063240" y="4969264"/>
            <a:ext cx="438912" cy="438912"/>
          </a:xfrm>
          <a:prstGeom prst="ellipse">
            <a:avLst/>
          </a:prstGeom>
          <a:noFill/>
          <a:ln w="6350">
            <a:solidFill>
              <a:srgbClr val="8A7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584448" y="4969264"/>
            <a:ext cx="438912" cy="438912"/>
          </a:xfrm>
          <a:prstGeom prst="ellipse">
            <a:avLst/>
          </a:prstGeom>
          <a:noFill/>
          <a:ln w="6350">
            <a:solidFill>
              <a:srgbClr val="8A7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105656" y="4969264"/>
            <a:ext cx="438912" cy="438912"/>
          </a:xfrm>
          <a:prstGeom prst="ellipse">
            <a:avLst/>
          </a:prstGeom>
          <a:noFill/>
          <a:ln w="6350">
            <a:solidFill>
              <a:srgbClr val="8A7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626864" y="4969264"/>
            <a:ext cx="438912" cy="438912"/>
          </a:xfrm>
          <a:prstGeom prst="ellipse">
            <a:avLst/>
          </a:prstGeom>
          <a:noFill/>
          <a:ln w="6350">
            <a:solidFill>
              <a:srgbClr val="8A7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148072" y="4969264"/>
            <a:ext cx="438912" cy="438912"/>
          </a:xfrm>
          <a:prstGeom prst="ellipse">
            <a:avLst/>
          </a:prstGeom>
          <a:noFill/>
          <a:ln w="6350">
            <a:solidFill>
              <a:srgbClr val="8A7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7200" y="5636776"/>
            <a:ext cx="6858000" cy="960120"/>
          </a:xfrm>
          <a:prstGeom prst="rect">
            <a:avLst/>
          </a:prstGeom>
          <a:noFill/>
          <a:ln w="6350">
            <a:solidFill>
              <a:srgbClr val="C0B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>
            <a:off x="457200" y="9582912"/>
            <a:ext cx="6858000" cy="0"/>
          </a:xfrm>
          <a:prstGeom prst="line">
            <a:avLst/>
          </a:prstGeom>
          <a:ln w="6350">
            <a:solidFill>
              <a:srgbClr val="C0B6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457200" y="356616"/>
            <a:ext cx="265176" cy="26517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786" b="0" i="1" spc="31">
                <a:solidFill>
                  <a:srgbClr val="0A0A0A"/>
                </a:solidFill>
                <a:latin typeface="Playfair Display"/>
                <a:ea typeface="Playfair Display"/>
                <a:cs typeface="Playfair Display"/>
              </a:rPr>
              <a:t>AM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1822" y="406908"/>
            <a:ext cx="1910024" cy="16459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792" b="0" i="1" spc="3">
                <a:solidFill>
                  <a:srgbClr val="0A0A0A"/>
                </a:solidFill>
                <a:latin typeface="Playfair Display"/>
                <a:ea typeface="Playfair Display"/>
                <a:cs typeface="Playfair Display"/>
              </a:rPr>
              <a:t>Alexandra Monroe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88782" y="450342"/>
            <a:ext cx="2723698" cy="7772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00" b="1" i="0" spc="142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CHECKLIST 04 · SHOWING SCORECARD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937260"/>
            <a:ext cx="1247299" cy="2331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540" b="1" i="0" spc="151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CLIENT HANDOUT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1261872"/>
            <a:ext cx="7955280" cy="45641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2000"/>
              </a:lnSpc>
            </a:pPr>
            <a:r>
              <a:rPr sz="3311" b="0" i="1" spc="-66">
                <a:solidFill>
                  <a:srgbClr val="0A0A0A"/>
                </a:solidFill>
                <a:latin typeface="Playfair Display"/>
                <a:ea typeface="Playfair Display"/>
                <a:cs typeface="Playfair Display"/>
              </a:rPr>
              <a:t>Showing Scorecard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1764006"/>
            <a:ext cx="6355080" cy="19888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50000"/>
              </a:lnSpc>
            </a:pPr>
            <a:r>
              <a:rPr sz="900" b="0" i="0">
                <a:solidFill>
                  <a:srgbClr val="8A7D63"/>
                </a:solidFill>
                <a:latin typeface="Lato"/>
                <a:ea typeface="Lato"/>
                <a:cs typeface="Lato"/>
              </a:rPr>
              <a:t>A fill-in card to score every home you tour. Print one per showing and compare with a clear head later.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2173200"/>
            <a:ext cx="4270248" cy="868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68" b="1" i="0" spc="14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PROPERTY ADDRESS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86200" y="2173200"/>
            <a:ext cx="2683764" cy="868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68" b="1" i="0" spc="14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LIST PRICE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728716" y="2173200"/>
            <a:ext cx="2683764" cy="868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68" b="1" i="0" spc="14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DATE TOURED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2584680"/>
            <a:ext cx="2491740" cy="9601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540" b="1" i="0" spc="183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WALK THROUGH &amp; CHECK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2376" y="2772132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1A1A1A"/>
                </a:solidFill>
                <a:latin typeface="Lato"/>
                <a:ea typeface="Lato"/>
                <a:cs typeface="Lato"/>
              </a:rPr>
              <a:t>First impression / curb appeal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79392" y="2772132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1A1A1A"/>
                </a:solidFill>
                <a:latin typeface="Lato"/>
                <a:ea typeface="Lato"/>
                <a:cs typeface="Lato"/>
              </a:rPr>
              <a:t>Layout &amp; flow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2376" y="3081171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1A1A1A"/>
                </a:solidFill>
                <a:latin typeface="Lato"/>
                <a:ea typeface="Lato"/>
                <a:cs typeface="Lato"/>
              </a:rPr>
              <a:t>Natural light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279392" y="3081171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1A1A1A"/>
                </a:solidFill>
                <a:latin typeface="Lato"/>
                <a:ea typeface="Lato"/>
                <a:cs typeface="Lato"/>
              </a:rPr>
              <a:t>Kitchen condition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2376" y="3390209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1A1A1A"/>
                </a:solidFill>
                <a:latin typeface="Lato"/>
                <a:ea typeface="Lato"/>
                <a:cs typeface="Lato"/>
              </a:rPr>
              <a:t>Bath condition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79392" y="3390209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1A1A1A"/>
                </a:solidFill>
                <a:latin typeface="Lato"/>
                <a:ea typeface="Lato"/>
                <a:cs typeface="Lato"/>
              </a:rPr>
              <a:t>Primary suite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2376" y="3699248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1A1A1A"/>
                </a:solidFill>
                <a:latin typeface="Lato"/>
                <a:ea typeface="Lato"/>
                <a:cs typeface="Lato"/>
              </a:rPr>
              <a:t>Storage &amp; closets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279392" y="3699248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1A1A1A"/>
                </a:solidFill>
                <a:latin typeface="Lato"/>
                <a:ea typeface="Lato"/>
                <a:cs typeface="Lato"/>
              </a:rPr>
              <a:t>Mechanicals age (HVAC / roof / water heater)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22376" y="4008287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1A1A1A"/>
                </a:solidFill>
                <a:latin typeface="Lato"/>
                <a:ea typeface="Lato"/>
                <a:cs typeface="Lato"/>
              </a:rPr>
              <a:t>Yard &amp; outdoor space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279392" y="4008287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1A1A1A"/>
                </a:solidFill>
                <a:latin typeface="Lato"/>
                <a:ea typeface="Lato"/>
                <a:cs typeface="Lato"/>
              </a:rPr>
              <a:t>Noise &amp; neighbors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22376" y="4317325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1A1A1A"/>
                </a:solidFill>
                <a:latin typeface="Lato"/>
                <a:ea typeface="Lato"/>
                <a:cs typeface="Lato"/>
              </a:rPr>
              <a:t>Commute test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279392" y="4317325"/>
            <a:ext cx="4133088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1A1A1A"/>
                </a:solidFill>
                <a:latin typeface="Lato"/>
                <a:ea typeface="Lato"/>
                <a:cs typeface="Lato"/>
              </a:rPr>
              <a:t>Pet / lifestyle fit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7200" y="4763524"/>
            <a:ext cx="2027253" cy="9601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540" b="1" i="0" spc="183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GUT-FEEL SCORE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7200" y="4960120"/>
            <a:ext cx="466344" cy="4663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24" b="0" i="1">
                <a:solidFill>
                  <a:srgbClr val="8A7D63"/>
                </a:solidFill>
                <a:latin typeface="Playfair Display"/>
                <a:ea typeface="Playfair Display"/>
                <a:cs typeface="Playfair Display"/>
              </a:rPr>
              <a:t>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78408" y="4960120"/>
            <a:ext cx="466344" cy="4663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24" b="0" i="1">
                <a:solidFill>
                  <a:srgbClr val="8A7D63"/>
                </a:solidFill>
                <a:latin typeface="Playfair Display"/>
                <a:ea typeface="Playfair Display"/>
                <a:cs typeface="Playfair Display"/>
              </a:rPr>
              <a:t>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499616" y="4960120"/>
            <a:ext cx="466344" cy="4663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24" b="0" i="1">
                <a:solidFill>
                  <a:srgbClr val="8A7D63"/>
                </a:solidFill>
                <a:latin typeface="Playfair Display"/>
                <a:ea typeface="Playfair Display"/>
                <a:cs typeface="Playfair Display"/>
              </a:rPr>
              <a:t>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020824" y="4960120"/>
            <a:ext cx="466344" cy="4663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24" b="0" i="1">
                <a:solidFill>
                  <a:srgbClr val="8A7D63"/>
                </a:solidFill>
                <a:latin typeface="Playfair Display"/>
                <a:ea typeface="Playfair Display"/>
                <a:cs typeface="Playfair Display"/>
              </a:rPr>
              <a:t>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542032" y="4960120"/>
            <a:ext cx="466344" cy="4663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24" b="0" i="1">
                <a:solidFill>
                  <a:srgbClr val="8A7D63"/>
                </a:solidFill>
                <a:latin typeface="Playfair Display"/>
                <a:ea typeface="Playfair Display"/>
                <a:cs typeface="Playfair Display"/>
              </a:rPr>
              <a:t>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063240" y="4960120"/>
            <a:ext cx="466344" cy="4663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24" b="0" i="1">
                <a:solidFill>
                  <a:srgbClr val="8A7D63"/>
                </a:solidFill>
                <a:latin typeface="Playfair Display"/>
                <a:ea typeface="Playfair Display"/>
                <a:cs typeface="Playfair Display"/>
              </a:rPr>
              <a:t>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584448" y="4960120"/>
            <a:ext cx="466344" cy="4663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24" b="0" i="1">
                <a:solidFill>
                  <a:srgbClr val="8A7D63"/>
                </a:solidFill>
                <a:latin typeface="Playfair Display"/>
                <a:ea typeface="Playfair Display"/>
                <a:cs typeface="Playfair Display"/>
              </a:rPr>
              <a:t>7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105656" y="4960120"/>
            <a:ext cx="466344" cy="4663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24" b="0" i="1">
                <a:solidFill>
                  <a:srgbClr val="8A7D63"/>
                </a:solidFill>
                <a:latin typeface="Playfair Display"/>
                <a:ea typeface="Playfair Display"/>
                <a:cs typeface="Playfair Display"/>
              </a:rPr>
              <a:t>8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626864" y="4960120"/>
            <a:ext cx="466344" cy="4663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24" b="0" i="1">
                <a:solidFill>
                  <a:srgbClr val="8A7D63"/>
                </a:solidFill>
                <a:latin typeface="Playfair Display"/>
                <a:ea typeface="Playfair Display"/>
                <a:cs typeface="Playfair Display"/>
              </a:rPr>
              <a:t>9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148072" y="4960120"/>
            <a:ext cx="466344" cy="4663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24" b="0" i="1">
                <a:solidFill>
                  <a:srgbClr val="8A7D63"/>
                </a:solidFill>
                <a:latin typeface="Playfair Display"/>
                <a:ea typeface="Playfair Display"/>
                <a:cs typeface="Playfair Display"/>
              </a:rPr>
              <a:t>10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89788" y="5732788"/>
            <a:ext cx="7690104" cy="8229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32" b="1" i="0" spc="138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NOTES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57200" y="9678924"/>
            <a:ext cx="2503670" cy="7772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00" b="0" i="0" spc="126">
                <a:solidFill>
                  <a:srgbClr val="8A7D63"/>
                </a:solidFill>
                <a:latin typeface="Montserrat"/>
                <a:ea typeface="Montserrat"/>
                <a:cs typeface="Montserrat"/>
              </a:rPr>
              <a:t>THE REAL ESTATE CHECKLIST PACK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309860" y="9669780"/>
            <a:ext cx="2102620" cy="9144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00" b="1" i="0" spc="126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ALEXANDRAMONROE.COM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