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0287000" cy="10287000"/>
  <p:notesSz cx="10287000" cy="10287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666750" y="666750"/>
            <a:ext cx="342900" cy="342900"/>
          </a:xfrm>
          <a:prstGeom prst="rect">
            <a:avLst/>
          </a:prstGeom>
          <a:ln w="6350">
            <a:solidFill>
              <a:srgbClr val="F5F0E8"/>
            </a:solidFill>
            <a:prstDash val="solid"/>
          </a:ln>
        </p:spPr>
      </p:sp>
      <p:sp>
        <p:nvSpPr>
          <p:cNvPr id="3" name="Text 1"/>
          <p:cNvSpPr/>
          <p:nvPr/>
        </p:nvSpPr>
        <p:spPr>
          <a:xfrm>
            <a:off x="666750" y="666750"/>
            <a:ext cx="342900" cy="342900"/>
          </a:xfrm>
          <a:prstGeom prst="rect">
            <a:avLst/>
          </a:prstGeom>
          <a:noFill/>
          <a:ln/>
        </p:spPr>
        <p:txBody>
          <a:bodyPr wrap="square" lIns="0" tIns="0" rIns="0" bIns="0" rtlCol="0" anchor="ctr"/>
          <a:lstStyle/>
          <a:p>
            <a:pPr algn="ctr" indent="0" marL="0">
              <a:buNone/>
            </a:pPr>
            <a:r>
              <a:rPr lang="en-US" sz="1242" i="1" dirty="0">
                <a:solidFill>
                  <a:srgbClr val="F5F0E8"/>
                </a:solidFill>
                <a:latin typeface="Playfair Display" pitchFamily="34" charset="0"/>
                <a:ea typeface="Playfair Display" pitchFamily="34" charset="-122"/>
                <a:cs typeface="Playfair Display" pitchFamily="34" charset="-120"/>
              </a:rPr>
              <a:t>AM</a:t>
            </a:r>
            <a:endParaRPr lang="en-US" sz="1242" dirty="0"/>
          </a:p>
        </p:txBody>
      </p:sp>
      <p:sp>
        <p:nvSpPr>
          <p:cNvPr id="4" name="Text 2"/>
          <p:cNvSpPr/>
          <p:nvPr/>
        </p:nvSpPr>
        <p:spPr>
          <a:xfrm>
            <a:off x="1143000" y="666750"/>
            <a:ext cx="4000500" cy="228600"/>
          </a:xfrm>
          <a:prstGeom prst="rect">
            <a:avLst/>
          </a:prstGeom>
          <a:noFill/>
          <a:ln/>
        </p:spPr>
        <p:txBody>
          <a:bodyPr wrap="square" lIns="0" tIns="0" rIns="0" bIns="0" rtlCol="0" anchor="t"/>
          <a:lstStyle/>
          <a:p>
            <a:pPr indent="0" marL="0">
              <a:buNone/>
            </a:pPr>
            <a:r>
              <a:rPr lang="en-US" sz="1350" i="1" dirty="0">
                <a:solidFill>
                  <a:srgbClr val="F5F0E8"/>
                </a:solidFill>
                <a:latin typeface="Playfair Display" pitchFamily="34" charset="0"/>
                <a:ea typeface="Playfair Display" pitchFamily="34" charset="-122"/>
                <a:cs typeface="Playfair Display" pitchFamily="34" charset="-120"/>
              </a:rPr>
              <a:t>Alexandra Monroe</a:t>
            </a:r>
            <a:endParaRPr lang="en-US" sz="1350" dirty="0"/>
          </a:p>
        </p:txBody>
      </p:sp>
      <p:sp>
        <p:nvSpPr>
          <p:cNvPr id="5" name="Text 3"/>
          <p:cNvSpPr/>
          <p:nvPr/>
        </p:nvSpPr>
        <p:spPr>
          <a:xfrm>
            <a:off x="1143000" y="904875"/>
            <a:ext cx="4762500" cy="152400"/>
          </a:xfrm>
          <a:prstGeom prst="rect">
            <a:avLst/>
          </a:prstGeom>
          <a:noFill/>
          <a:ln/>
        </p:spPr>
        <p:txBody>
          <a:bodyPr wrap="square" lIns="0" tIns="0" rIns="0" bIns="0" rtlCol="0" anchor="t"/>
          <a:lstStyle/>
          <a:p>
            <a:pPr indent="0" marL="0">
              <a:buNone/>
            </a:pPr>
            <a:r>
              <a:rPr lang="en-US" sz="600" spc="168" kern="0" dirty="0">
                <a:solidFill>
                  <a:srgbClr val="A3A09A"/>
                </a:solidFill>
                <a:latin typeface="Montserrat" pitchFamily="34" charset="0"/>
                <a:ea typeface="Montserrat" pitchFamily="34" charset="-122"/>
                <a:cs typeface="Montserrat" pitchFamily="34" charset="-120"/>
              </a:rPr>
              <a:t>REALTOR® | LUXURY SPECIALIST</a:t>
            </a:r>
            <a:endParaRPr lang="en-US" sz="600" dirty="0"/>
          </a:p>
        </p:txBody>
      </p:sp>
      <p:sp>
        <p:nvSpPr>
          <p:cNvPr id="6" name="Text 4"/>
          <p:cNvSpPr/>
          <p:nvPr/>
        </p:nvSpPr>
        <p:spPr>
          <a:xfrm>
            <a:off x="5048250" y="762000"/>
            <a:ext cx="4572000" cy="171450"/>
          </a:xfrm>
          <a:prstGeom prst="rect">
            <a:avLst/>
          </a:prstGeom>
          <a:noFill/>
          <a:ln/>
        </p:spPr>
        <p:txBody>
          <a:bodyPr wrap="square" lIns="0" tIns="0" rIns="0" bIns="0" rtlCol="0" anchor="t"/>
          <a:lstStyle/>
          <a:p>
            <a:pPr algn="r" indent="0" marL="0">
              <a:buNone/>
            </a:pPr>
            <a:r>
              <a:rPr lang="en-US" sz="750" spc="240" kern="0" dirty="0">
                <a:solidFill>
                  <a:srgbClr val="C9A84C"/>
                </a:solidFill>
                <a:latin typeface="Montserrat" pitchFamily="34" charset="0"/>
                <a:ea typeface="Montserrat" pitchFamily="34" charset="-122"/>
                <a:cs typeface="Montserrat" pitchFamily="34" charset="-120"/>
              </a:rPr>
              <a:t>09 · FOR SELLERS</a:t>
            </a:r>
            <a:endParaRPr lang="en-US" sz="750" dirty="0"/>
          </a:p>
        </p:txBody>
      </p:sp>
      <p:sp>
        <p:nvSpPr>
          <p:cNvPr id="7" name="Shape 5"/>
          <p:cNvSpPr/>
          <p:nvPr/>
        </p:nvSpPr>
        <p:spPr>
          <a:xfrm>
            <a:off x="666750" y="1238250"/>
            <a:ext cx="8953500" cy="0"/>
          </a:xfrm>
          <a:prstGeom prst="line">
            <a:avLst/>
          </a:prstGeom>
          <a:noFill/>
          <a:ln w="6350">
            <a:solidFill>
              <a:srgbClr val="302F2E"/>
            </a:solidFill>
            <a:prstDash val="solid"/>
          </a:ln>
        </p:spPr>
      </p:sp>
      <p:sp>
        <p:nvSpPr>
          <p:cNvPr id="8" name="Shape 6"/>
          <p:cNvSpPr/>
          <p:nvPr/>
        </p:nvSpPr>
        <p:spPr>
          <a:xfrm>
            <a:off x="666750" y="1676400"/>
            <a:ext cx="3143250" cy="323850"/>
          </a:xfrm>
          <a:prstGeom prst="rect">
            <a:avLst/>
          </a:prstGeom>
          <a:solidFill>
            <a:srgbClr val="C9A84C"/>
          </a:solidFill>
          <a:ln/>
        </p:spPr>
      </p:sp>
      <p:sp>
        <p:nvSpPr>
          <p:cNvPr id="9" name="Shape 7"/>
          <p:cNvSpPr/>
          <p:nvPr/>
        </p:nvSpPr>
        <p:spPr>
          <a:xfrm>
            <a:off x="857250" y="1800225"/>
            <a:ext cx="57150" cy="57150"/>
          </a:xfrm>
          <a:prstGeom prst="diamond">
            <a:avLst/>
          </a:prstGeom>
          <a:solidFill>
            <a:srgbClr val="0A0A0A"/>
          </a:solidFill>
          <a:ln/>
        </p:spPr>
      </p:sp>
      <p:sp>
        <p:nvSpPr>
          <p:cNvPr id="10" name="Text 8"/>
          <p:cNvSpPr/>
          <p:nvPr/>
        </p:nvSpPr>
        <p:spPr>
          <a:xfrm>
            <a:off x="1009650" y="1676400"/>
            <a:ext cx="2705100" cy="323850"/>
          </a:xfrm>
          <a:prstGeom prst="rect">
            <a:avLst/>
          </a:prstGeom>
          <a:noFill/>
          <a:ln/>
        </p:spPr>
        <p:txBody>
          <a:bodyPr wrap="square" lIns="0" tIns="0" rIns="0" bIns="0" rtlCol="0" anchor="ctr"/>
          <a:lstStyle/>
          <a:p>
            <a:pPr indent="0" marL="0">
              <a:buNone/>
            </a:pPr>
            <a:r>
              <a:rPr lang="en-US" sz="750" b="1" spc="240" kern="0" dirty="0">
                <a:solidFill>
                  <a:srgbClr val="0A0A0A"/>
                </a:solidFill>
                <a:latin typeface="Montserrat" pitchFamily="34" charset="0"/>
                <a:ea typeface="Montserrat" pitchFamily="34" charset="-122"/>
                <a:cs typeface="Montserrat" pitchFamily="34" charset="-120"/>
              </a:rPr>
              <a:t>TIP OF THE WEEK · SELLERS</a:t>
            </a:r>
            <a:endParaRPr lang="en-US" sz="750" dirty="0"/>
          </a:p>
        </p:txBody>
      </p:sp>
      <p:sp>
        <p:nvSpPr>
          <p:cNvPr id="11" name="Text 9"/>
          <p:cNvSpPr/>
          <p:nvPr/>
        </p:nvSpPr>
        <p:spPr>
          <a:xfrm>
            <a:off x="666750" y="2305050"/>
            <a:ext cx="8382000" cy="1905000"/>
          </a:xfrm>
          <a:prstGeom prst="rect">
            <a:avLst/>
          </a:prstGeom>
          <a:noFill/>
          <a:ln/>
        </p:spPr>
        <p:txBody>
          <a:bodyPr wrap="square" lIns="0" tIns="0" rIns="0" bIns="0" rtlCol="0" anchor="t"/>
          <a:lstStyle/>
          <a:p>
            <a:pPr indent="0" marL="0">
              <a:lnSpc>
                <a:spcPct val="98000"/>
              </a:lnSpc>
              <a:buNone/>
            </a:pPr>
            <a:r>
              <a:rPr lang="en-US" sz="6600" i="1" dirty="0">
                <a:solidFill>
                  <a:srgbClr val="F5F0E8"/>
                </a:solidFill>
                <a:latin typeface="Playfair Display" pitchFamily="34" charset="0"/>
                <a:ea typeface="Playfair Display" pitchFamily="34" charset="-122"/>
                <a:cs typeface="Playfair Display" pitchFamily="34" charset="-120"/>
              </a:rPr>
              <a:t>Stage the</a:t>
            </a:r>
            <a:pPr indent="0" marL="0">
              <a:lnSpc>
                <a:spcPct val="98000"/>
              </a:lnSpc>
              <a:buNone/>
            </a:pPr>
            <a:r>
              <a:rPr lang="en-US" sz="6600" i="1" dirty="0">
                <a:solidFill>
                  <a:srgbClr val="C9A84C"/>
                </a:solidFill>
                <a:latin typeface="Playfair Display" pitchFamily="34" charset="0"/>
                <a:ea typeface="Playfair Display" pitchFamily="34" charset="-122"/>
                <a:cs typeface="Playfair Display" pitchFamily="34" charset="-120"/>
              </a:rPr>
              <a:t> first ten</a:t>
            </a:r>
            <a:pPr indent="0" marL="0">
              <a:lnSpc>
                <a:spcPct val="98000"/>
              </a:lnSpc>
              <a:buNone/>
            </a:pPr>
            <a:r>
              <a:rPr lang="en-US" sz="6600" i="1" dirty="0">
                <a:solidFill>
                  <a:srgbClr val="F5F0E8"/>
                </a:solidFill>
                <a:latin typeface="Playfair Display" pitchFamily="34" charset="0"/>
                <a:ea typeface="Playfair Display" pitchFamily="34" charset="-122"/>
                <a:cs typeface="Playfair Display" pitchFamily="34" charset="-120"/>
              </a:rPr>
              <a:t> feet.</a:t>
            </a:r>
            <a:endParaRPr lang="en-US" sz="6600" dirty="0"/>
          </a:p>
        </p:txBody>
      </p:sp>
      <p:sp>
        <p:nvSpPr>
          <p:cNvPr id="12" name="Shape 10"/>
          <p:cNvSpPr/>
          <p:nvPr/>
        </p:nvSpPr>
        <p:spPr>
          <a:xfrm>
            <a:off x="666750" y="4476750"/>
            <a:ext cx="0" cy="1428750"/>
          </a:xfrm>
          <a:prstGeom prst="line">
            <a:avLst/>
          </a:prstGeom>
          <a:noFill/>
          <a:ln w="12700">
            <a:solidFill>
              <a:srgbClr val="C9A84C"/>
            </a:solidFill>
            <a:prstDash val="solid"/>
          </a:ln>
        </p:spPr>
      </p:sp>
      <p:sp>
        <p:nvSpPr>
          <p:cNvPr id="13" name="Text 11"/>
          <p:cNvSpPr/>
          <p:nvPr/>
        </p:nvSpPr>
        <p:spPr>
          <a:xfrm>
            <a:off x="942975" y="4476750"/>
            <a:ext cx="7239000" cy="1143000"/>
          </a:xfrm>
          <a:prstGeom prst="rect">
            <a:avLst/>
          </a:prstGeom>
          <a:noFill/>
          <a:ln/>
        </p:spPr>
        <p:txBody>
          <a:bodyPr wrap="square" lIns="0" tIns="0" rIns="0" bIns="0" rtlCol="0" anchor="t"/>
          <a:lstStyle/>
          <a:p>
            <a:pPr indent="0" marL="0">
              <a:lnSpc>
                <a:spcPct val="160000"/>
              </a:lnSpc>
              <a:buNone/>
            </a:pPr>
            <a:r>
              <a:rPr lang="en-US" sz="1200" dirty="0">
                <a:solidFill>
                  <a:srgbClr val="D2CEC7"/>
                </a:solidFill>
                <a:latin typeface="Lato" pitchFamily="34" charset="0"/>
                <a:ea typeface="Lato" pitchFamily="34" charset="-122"/>
                <a:cs typeface="Lato" pitchFamily="34" charset="-120"/>
              </a:rPr>
              <a:t>Buyers decide in seconds. Curated front porch, fresh entry rug, one quiet floral arrangement on the foyer console. The first ten feet inside your door does more work than any other room in the house.</a:t>
            </a:r>
            <a:endParaRPr lang="en-US" sz="1200" dirty="0"/>
          </a:p>
        </p:txBody>
      </p:sp>
      <p:sp>
        <p:nvSpPr>
          <p:cNvPr id="14" name="Text 12"/>
          <p:cNvSpPr/>
          <p:nvPr/>
        </p:nvSpPr>
        <p:spPr>
          <a:xfrm>
            <a:off x="942975" y="5829300"/>
            <a:ext cx="7239000" cy="228600"/>
          </a:xfrm>
          <a:prstGeom prst="rect">
            <a:avLst/>
          </a:prstGeom>
          <a:noFill/>
          <a:ln/>
        </p:spPr>
        <p:txBody>
          <a:bodyPr wrap="square" lIns="0" tIns="0" rIns="0" bIns="0" rtlCol="0" anchor="t"/>
          <a:lstStyle/>
          <a:p>
            <a:pPr indent="0" marL="0">
              <a:buNone/>
            </a:pPr>
            <a:r>
              <a:rPr lang="en-US" sz="975" i="1" dirty="0">
                <a:solidFill>
                  <a:srgbClr val="C9A84C"/>
                </a:solidFill>
                <a:latin typeface="Lato" pitchFamily="34" charset="0"/>
                <a:ea typeface="Lato" pitchFamily="34" charset="-122"/>
                <a:cs typeface="Lato" pitchFamily="34" charset="-120"/>
              </a:rPr>
              <a:t>— A note from </a:t>
            </a:r>
            <a:pPr indent="0" marL="0">
              <a:buNone/>
            </a:pPr>
            <a:r>
              <a:rPr lang="en-US" sz="1050" i="1" dirty="0">
                <a:solidFill>
                  <a:srgbClr val="F5F0E8"/>
                </a:solidFill>
                <a:latin typeface="Playfair Display" pitchFamily="34" charset="0"/>
                <a:ea typeface="Playfair Display" pitchFamily="34" charset="-122"/>
                <a:cs typeface="Playfair Display" pitchFamily="34" charset="-120"/>
              </a:rPr>
              <a:t>Alexandra Monroe</a:t>
            </a:r>
            <a:endParaRPr lang="en-US" sz="975" dirty="0"/>
          </a:p>
        </p:txBody>
      </p:sp>
      <p:sp>
        <p:nvSpPr>
          <p:cNvPr id="15" name="Shape 13"/>
          <p:cNvSpPr/>
          <p:nvPr/>
        </p:nvSpPr>
        <p:spPr>
          <a:xfrm>
            <a:off x="666750" y="9296400"/>
            <a:ext cx="8953500" cy="0"/>
          </a:xfrm>
          <a:prstGeom prst="line">
            <a:avLst/>
          </a:prstGeom>
          <a:noFill/>
          <a:ln w="6350">
            <a:solidFill>
              <a:srgbClr val="302F2E"/>
            </a:solidFill>
            <a:prstDash val="solid"/>
          </a:ln>
        </p:spPr>
      </p:sp>
      <p:sp>
        <p:nvSpPr>
          <p:cNvPr id="16" name="Shape 14"/>
          <p:cNvSpPr/>
          <p:nvPr/>
        </p:nvSpPr>
        <p:spPr>
          <a:xfrm>
            <a:off x="666750" y="9534525"/>
            <a:ext cx="66675" cy="66675"/>
          </a:xfrm>
          <a:prstGeom prst="diamond">
            <a:avLst/>
          </a:prstGeom>
          <a:solidFill>
            <a:srgbClr val="C9A84C"/>
          </a:solidFill>
          <a:ln/>
        </p:spPr>
      </p:sp>
      <p:sp>
        <p:nvSpPr>
          <p:cNvPr id="17" name="Text 15"/>
          <p:cNvSpPr/>
          <p:nvPr/>
        </p:nvSpPr>
        <p:spPr>
          <a:xfrm>
            <a:off x="857250" y="9486900"/>
            <a:ext cx="6096000" cy="171450"/>
          </a:xfrm>
          <a:prstGeom prst="rect">
            <a:avLst/>
          </a:prstGeom>
          <a:noFill/>
          <a:ln/>
        </p:spPr>
        <p:txBody>
          <a:bodyPr wrap="square" lIns="0" tIns="0" rIns="0" bIns="0" rtlCol="0" anchor="ctr"/>
          <a:lstStyle/>
          <a:p>
            <a:pPr indent="0" marL="0">
              <a:buNone/>
            </a:pPr>
            <a:r>
              <a:rPr lang="en-US" sz="750" spc="210" kern="0" dirty="0">
                <a:solidFill>
                  <a:srgbClr val="BAB7B1"/>
                </a:solidFill>
                <a:latin typeface="Montserrat" pitchFamily="34" charset="0"/>
                <a:ea typeface="Montserrat" pitchFamily="34" charset="-122"/>
                <a:cs typeface="Montserrat" pitchFamily="34" charset="-120"/>
              </a:rPr>
              <a:t>@ALEXANDRAMONROE · ALEXANDRAMONROE.COM</a:t>
            </a:r>
            <a:endParaRPr lang="en-US" sz="750" dirty="0"/>
          </a:p>
        </p:txBody>
      </p:sp>
      <p:sp>
        <p:nvSpPr>
          <p:cNvPr id="18" name="Text 16"/>
          <p:cNvSpPr/>
          <p:nvPr/>
        </p:nvSpPr>
        <p:spPr>
          <a:xfrm>
            <a:off x="5048250" y="9486900"/>
            <a:ext cx="4572000" cy="171450"/>
          </a:xfrm>
          <a:prstGeom prst="rect">
            <a:avLst/>
          </a:prstGeom>
          <a:noFill/>
          <a:ln/>
        </p:spPr>
        <p:txBody>
          <a:bodyPr wrap="square" lIns="0" tIns="0" rIns="0" bIns="0" rtlCol="0" anchor="ctr"/>
          <a:lstStyle/>
          <a:p>
            <a:pPr algn="r" indent="0" marL="0">
              <a:buNone/>
            </a:pPr>
            <a:r>
              <a:rPr lang="en-US" sz="750" spc="210" kern="0" dirty="0">
                <a:solidFill>
                  <a:srgbClr val="C9A84C"/>
                </a:solidFill>
                <a:latin typeface="Montserrat" pitchFamily="34" charset="0"/>
                <a:ea typeface="Montserrat" pitchFamily="34" charset="-122"/>
                <a:cs typeface="Montserrat" pitchFamily="34" charset="-120"/>
              </a:rPr>
              <a:t>GET YOUR HOME VALUATION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2026-06-02T20:59:01Z</dcterms:created>
  <dcterms:modified xsi:type="dcterms:W3CDTF">2026-06-02T20:59:01Z</dcterms:modified>
</cp:coreProperties>
</file>